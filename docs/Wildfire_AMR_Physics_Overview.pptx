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64592" cy="164592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48640"/>
            <a:ext cx="164592" cy="1463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457200"/>
            <a:ext cx="164592" cy="155448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Wildfire-AMR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A500"/>
                </a:solidFill>
              </a:rPr>
              <a:t>GPU-Accelerated Wildfire Front Propagation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04872"/>
            <a:ext cx="9144000" cy="445312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1920240" cy="141732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🔥 Physics-Based
Fire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2697480"/>
            <a:ext cx="1920240" cy="1417320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🌊 Level-Set
Propagation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2697480"/>
            <a:ext cx="1920240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🖥️  GPU-Native
AMReX Kernels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75704" y="2697480"/>
            <a:ext cx="192024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🌲 Multi-Model
Fire Ecology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B0"/>
                </a:solidFill>
              </a:rPr>
              <a:t>AMReX · CUDA · HIP · SYCL · MPI · FARSITE-Compatible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5B0"/>
                </a:solidFill>
              </a:rPr>
              <a:t>hgopalan/wildfire_levelset   · 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 &amp;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Why do we need a new wildfire simulation framework?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A1E"/>
                </a:solidFill>
              </a:rPr>
              <a:t>The Problem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⚡  Climate change → longer fire seasons, higher intensity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🏘️  Growing wildland-urban interface (WUI) at risk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📡  NWP/WRF wind data needs GPU-ready fire models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🔁  Multi-day runs require scalable HPC solvers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🌐  Decision support demands real-time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</a:rPr>
              <a:t>Gaps in Existing Tools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❌  FARSITE / FlamMap: serial, CPU-only, closed-source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❌  WRF-SFIRE: no GPU, heavy atmospheric stack required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❌  FIRETEC/QUIC-Fire: full LES, prohibitive for large domains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❌  Single spread model — no physics alternatives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D0D8EF"/>
                </a:solidFill>
              </a:rPr>
              <a:t>❌  No multi-station IDW weather · no Viegas eruptive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234440"/>
            <a:ext cx="36576" cy="365760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FFA500"/>
                </a:solidFill>
              </a:rPr>
              <a:t>→  Wildfire-AMR fills all five gaps with an open-source, GPU-native, multi-model solver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Simulation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Per-timestep loop — from inputs to plotfile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344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34440"/>
            <a:ext cx="2084831" cy="34747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2618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Setup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16184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Terrain LCP · fuel database · weather station
(.wtr) · wind field (constant / CSV / WRF)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2344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234440"/>
            <a:ext cx="2084831" cy="347472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2618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Compute 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6184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Rothermel / Balbi / Cheney–Gould / FBP …
+ wind (WAF/MEWS) + slope + moisture damping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12344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1234440"/>
            <a:ext cx="2084831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2618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Huygens Wavelets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6184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Elliptical wavelets at each fire-front vertex
(Richards / Catchpole / Wilson / Lemniscate)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67144" y="12344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67144" y="1234440"/>
            <a:ext cx="2084831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618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Propagate Front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16184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Level-set WENO5-Z · FARSITE ellipse · MTT
Reinitialization → signed-distance maintained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2918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3291840"/>
            <a:ext cx="2084831" cy="347472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" y="33192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Crown / Spotting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" y="36758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Van Wagner initiation · Cruz active crown ROS
Albini 2-D firebrand trajectory + lofting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2918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3291840"/>
            <a:ext cx="2084831" cy="347472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3192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Post-Frontal Burn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36758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Bulk fuel consumption · burnout residence time
per fuel model (Rothermel 1983 SAV formula)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3291840"/>
            <a:ext cx="2084831" cy="1920240"/>
          </a:xfrm>
          <a:prstGeom prst="rect">
            <a:avLst/>
          </a:prstGeom>
          <a:solidFill>
            <a:srgbClr val="22224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45152" y="3291840"/>
            <a:ext cx="2084831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31927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7. Write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675888"/>
            <a:ext cx="1956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Plotfile: φ, ROS, I_B, flame length, scorch
emissions, TI/CI, moisture fields, diagnostics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5B0"/>
                </a:solidFill>
              </a:rPr>
              <a:t>↓  repeat each Δt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Rothermel (1972) Surface Fire Spread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The foundational empirical fire spread model — FARSITE-compatible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60520" cy="5303520"/>
          </a:xfrm>
          <a:prstGeom prst="rect">
            <a:avLst/>
          </a:prstGeom>
          <a:solidFill>
            <a:srgbClr val="101025"/>
          </a:solidFill>
          <a:ln w="1905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39776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No-wind, no-slope ROS: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R₀ = I_R · ξ / (ρ_b · ε_h · Q_ig)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Reaction intensity: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I_R = Γ' · w_n · h · η_M · η_s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Optimum rxn velocity: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Γ' = Γ_max (β/β_op)^A · exp[A(1−β/β_op)]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Moisture damping: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η_M = max(1 − 2.59r_m + 5.11r_m² − 3.52r_m³, 0)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Wind factor: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φ_w = C (β/β_op)^−E · U^B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Slope factor: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φ_s = 5.275 β^−0.3 tan²(θ)</a:t>
            </a:r>
          </a:p>
          <a:p>
            <a:pPr>
              <a:spcBef>
                <a:spcPts val="500"/>
              </a:spcBef>
            </a:pPr>
            <a:r>
              <a:rPr sz="1100" i="1">
                <a:solidFill>
                  <a:srgbClr val="8B95B0"/>
                </a:solidFill>
              </a:rPr>
              <a:t>Combined ROS:</a:t>
            </a:r>
          </a:p>
          <a:p>
            <a:pPr>
              <a:spcBef>
                <a:spcPts val="100"/>
              </a:spcBef>
            </a:pPr>
            <a:r>
              <a:rPr sz="1300" b="1">
                <a:solidFill>
                  <a:srgbClr val="FFA500"/>
                </a:solidFill>
              </a:rPr>
              <a:t>    R = R₀ (1 + φ_w + φ_s)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344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</a:rPr>
              <a:t>Key Parameters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I_R  — reaction intensity (BTU/ft²/min)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ξ    — propagating flux ratio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ρ_b  — oven-dry bulk density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η_M  — moisture damping coefficient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η_s  — mineral damping coefficient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φ_w  — wind factor (empirical U^B fit)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φ_s  — slope factor (tan²θ)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β    — fuel packing ratio  w₀/(δ·ρ_p)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D0D8EF"/>
                </a:solidFill>
              </a:rPr>
              <a:t>σ    — surface-area-to-volume 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234440"/>
            <a:ext cx="36576" cy="530352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Alternative Fire Spread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Plug-in library — select with fire_spread_model parameter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34440"/>
            <a:ext cx="4251960" cy="2450592"/>
          </a:xfrm>
          <a:prstGeom prst="rect">
            <a:avLst/>
          </a:prstGeom>
          <a:solidFill>
            <a:srgbClr val="181830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34440"/>
            <a:ext cx="4251960" cy="36576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2710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Balbi (2009)
Physics-Based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36776"/>
            <a:ext cx="4069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Radiation-balance ROS:
R = A(1 + sinα − cosα)
where:
A = χ σ_m δ_m / (2τ₀B*)  — fuel radiative amplitude
tanα = U/v_b + tanθ       — wind+slope flame tilt
v_b = √(g δ_m ΔT/T_a)    — buoyancy velocity
→ First-principles, no empirical wind-factor curve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1728" y="1234440"/>
            <a:ext cx="4251960" cy="2450592"/>
          </a:xfrm>
          <a:prstGeom prst="rect">
            <a:avLst/>
          </a:prstGeom>
          <a:solidFill>
            <a:srgbClr val="18183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1728" y="1234440"/>
            <a:ext cx="425196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2710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Cheney–Gould (1995)
Grassland Empirical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636776"/>
            <a:ext cx="4069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Piecewise linear in 10-m open wind:
R = (0.165 + 0.534·U₁₀) × f_MC × CF  (U ≤ 5 km/h)
R = (−0.020 + 0.640·U₁₀) × f_MC × CF  (U &gt; 5 km/h)
f_MC = exp(−0.108 × MC%)    — moisture correction
CF ∈ [0,1]                  — curing factor
→ Calibrated on Australian grassland fires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813048"/>
            <a:ext cx="4251960" cy="2450592"/>
          </a:xfrm>
          <a:prstGeom prst="rect">
            <a:avLst/>
          </a:prstGeom>
          <a:solidFill>
            <a:srgbClr val="1818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3813048"/>
            <a:ext cx="425196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" y="3849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Cruz et al. (2005)
Crown Fire 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4215384"/>
            <a:ext cx="4069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Active crown spread (continental US):
R_c = 11.02 · U₁₀^0.90 · CBD^0.19 · exp(−0.17 · FMC)
Passive blend: R = R_s + min(1,TI_ratio) (R_c − R_s)
→ Switches automatically from surface to crown based on
  Van Wagner (1977) threshold intensity I₀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3813048"/>
            <a:ext cx="4251960" cy="2450592"/>
          </a:xfrm>
          <a:prstGeom prst="rect">
            <a:avLst/>
          </a:prstGeom>
          <a:solidFill>
            <a:srgbClr val="181830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728" y="3813048"/>
            <a:ext cx="4251960" cy="365760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5736" y="3849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Lautenberger (2013)
Physics-Based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215384"/>
            <a:ext cx="4069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8EF"/>
                </a:solidFill>
              </a:rPr>
              <a:t>Thermal ignition model:
R = k_f · exp(−E_a / R_g T_i) · Q_f / (ρ_f C_f ΔT)
Energy balance accounts for radiation, convection
and fuel geometry.
→ Parameter-rich physics from laboratory calorimetry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 Fire Front Propagation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Select with propagation_method = levelset | farsite | mtt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34440"/>
            <a:ext cx="2834640" cy="41148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Level-Set (WENO5-Z / RK3)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∂φ/∂t + V|∇φ| = 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• φ &lt; 0 → burned interior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• φ = 0 → active fire front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• φ &gt; 0 → unburned fuel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WENO5-Z upwind spatial stencil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RK3 time integration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Reinitialization keeps φ as signed-distance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Front merging / islands automatic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No explicit perimeter connectivity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5536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5536" y="1234440"/>
            <a:ext cx="2834640" cy="411480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FARSITE Huygens Ellipse
(Richards 1990)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r(θ) based on fire shape model: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Richards:  (a cosθ + b sinθ) R Δt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Catchpole:  ab / √(b²cos²θ + a²sin²θ)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Wilson:    ℓ / (1 − e cosθ)  (conic section)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Lemniscate: [b + (a−c)/2 cosθ] R Δt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Anderson L/W ratio sets a, b, c from wind speed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Wavelet per front vertex → merge to new perimeter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234440"/>
            <a:ext cx="283464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Minimum Travel Time
(MTT / Dijkstra)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T_new = T_curr + d_s / R_interface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R_interface = 2·R_a·R_b / (R_a + R_b)   (harmonic mean)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A500"/>
                </a:solidFill>
              </a:rPr>
              <a:t>φ(i,j,k,t) = T(i,j,k) − 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Dijkstra min-heap → exact for any non-negative ROS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Fast-march runs once; update is trivially parallel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No reinitialization needed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⚠ ROS field frozen at t=0 (no time-varying wind)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Crown Fire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Van Wagner initiation → passive blend → Cruz et al. active crown 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98348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Crown Fire Physics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A500"/>
                </a:solidFill>
              </a:rPr>
              <a:t>Step 1 — Initiation Criterion (Van Wagner 1977)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79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I₀ [kW/m] = 0.010 × CBH × (460 + 25.9 × FMC)
If Byram intensity I_B ≥ I₀  → crown fire begins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3347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A500"/>
                </a:solidFill>
              </a:rPr>
              <a:t>Step 2 — Active Crown Criterion (Van Wagner 1977)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07791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R'_SA [m/s] = 3.0 / (CBD × 60)
If R ≥ R'_SA  → fire transitions to active crown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295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A500"/>
                </a:solidFill>
              </a:rPr>
              <a:t>Step 3 — Cruz et al. (2005) Active Crown 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0390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R_c = 11.02 · U₁₀^0.90 · CBD^0.19 · exp(−0.17·FMC)
Calibrated against Canadian and US crown fire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256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A500"/>
                </a:solidFill>
              </a:rPr>
              <a:t>Step 4 — Passive Crown Blend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0001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TI_ratio = I_B / I₀   (torching ratio)
R_blend = R_s + min(1, TI_ratio) × (R_c − R_s)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3218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A500"/>
                </a:solidFill>
              </a:rPr>
              <a:t>Step 5 — Rothermel (1991) Multiplier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96128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R_crown = 3.34 × R_surface  (continental US)
Applied when Cruz model is not 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234440"/>
            <a:ext cx="352044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2984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DD6"/>
                </a:solidFill>
              </a:rPr>
              <a:t>Scott &amp; Reinhardt (2001)
TI / CI 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9202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Torching Index (TI)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  ratio = I_B / I₀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  ≥ 1.0 → passive/active crown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Crowning Index (CI)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  ratio = R / R'_SA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  ≥ 1.0 → active crown fire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FMC Seasonal Schedule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Built-in phenology curve: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Winter 85% → Summer 140% → 85%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(S. California chaparral)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Crown Activity Output Field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0 = surface fire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1 = passive crown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2 = active crown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Firebrand Spotting — Albini (1983) 2-D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Physics-based lofting + horizontal wind-advected particle trajectory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60520" cy="2606040"/>
          </a:xfrm>
          <a:prstGeom prst="rect">
            <a:avLst/>
          </a:prstGeom>
          <a:solidFill>
            <a:srgbClr val="151528"/>
          </a:solidFill>
          <a:ln w="2540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4160520" cy="384048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1 — Thermal Lofting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97763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F"/>
                </a:solidFill>
              </a:rPr>
              <a:t>Byram fireline intensity:
  I_B [kW/m] = R · w₀ · h / 60 × 3.459
Lofting height (Albini 1983):
  H_z [m] = 12.2 · I_B^(1/3)
Cells with I_B &lt; I_B,min do not generate firebrands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977639"/>
            <a:ext cx="4160520" cy="2560320"/>
          </a:xfrm>
          <a:prstGeom prst="rect">
            <a:avLst/>
          </a:prstGeom>
          <a:solidFill>
            <a:srgbClr val="151528"/>
          </a:solidFill>
          <a:ln w="2540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3977639"/>
            <a:ext cx="4160520" cy="384048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0050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2 — 2-D Horizontal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39776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F"/>
                </a:solidFill>
              </a:rPr>
              <a:t>Flight time:  t_f = H_z / v_t   (terminal velocity v_t)
Forward Euler sub-steps (n_traj steps):
  x(t+Δt) = x(t) + u(x,y) · Δt
  y(t+Δt) = y(t) + v(x,y) · Δt
Bilinear interpolation of cell-centred wind field
Landing: circular ignition zone radius = spot_radius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234440"/>
            <a:ext cx="4251960" cy="2606040"/>
          </a:xfrm>
          <a:prstGeom prst="rect">
            <a:avLst/>
          </a:prstGeom>
          <a:solidFill>
            <a:srgbClr val="151528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34440"/>
            <a:ext cx="425196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2618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Diagnostic Output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691640"/>
            <a:ext cx="4023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>albini_Hz    — lofting height at source cells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>albini_count — firebrands launched per cell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>albini_dist  — max landing distance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>albini_active — cells with spot ignitions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D0D8EF"/>
                </a:solidFill>
              </a:rPr>
              <a:t>Also available: stochastic probability-based
spotting model (log-normal landing distance)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977639"/>
            <a:ext cx="4251960" cy="2560320"/>
          </a:xfrm>
          <a:prstGeom prst="rect">
            <a:avLst/>
          </a:prstGeom>
          <a:solidFill>
            <a:srgbClr val="151528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977639"/>
            <a:ext cx="425196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0050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Retardant Suppression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43484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F"/>
                </a:solidFill>
              </a:rPr>
              <a:t>Inside active aerial retardant drop zones:
  f_ret = 1 − ε · exp(−(t−t_drop) / τ_decay)
Both ROS and spotting probability are suppressed
by the same factor f_ret — matching FARSITE's
aerial retardant model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Terrain, Wind &amp; Heat Flux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Per-cell slope/aspect, wind adjustments, and fire-induced flow corrections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34440"/>
            <a:ext cx="2834640" cy="411480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Terrain Slope Effects
(Rothermel 1972)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Slope factor: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φ_s = 5.275 β^−0.3 tan²(θ)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tan²(θ) = (∂z/∂x)² + (∂z/∂y)²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Viegas (2004) exponential alternative: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Φ_s,V = exp(a_V · tanφ)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Eruptive regime flag: tanφ &gt; 0.4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LCP provides per-cell elevation,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slope &amp; aspect from FARSITE landscape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5536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5536" y="1234440"/>
            <a:ext cx="2834640" cy="411480"/>
          </a:xfrm>
          <a:prstGeom prst="rect">
            <a:avLst/>
          </a:prstGeom>
          <a:solidFill>
            <a:srgbClr val="00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Wind Adjustments
(Andrews 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Wind Adjustment Factor (WAF):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WAF = 1.83 / ln((20 + 0.36h) / 0.13h)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Converts 20-ft NWP wind → midflame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Max Effective Wind Speed (MEWS):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φ_w,max = 0.9·I_R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Caps ROS at Rothermel calibration range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Multi-station IDW spatial wind: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V_cell = Σ(w_i·V_i) / Σw_i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w_i = d_i^−p  (default p=2)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234440"/>
            <a:ext cx="2834640" cy="5303520"/>
          </a:xfrm>
          <a:prstGeom prst="rect">
            <a:avLst/>
          </a:prstGeom>
          <a:solidFill>
            <a:srgbClr val="18183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234440"/>
            <a:ext cx="283464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261872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Fire-Induced Wind
(Heat Flux Correction)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719072"/>
            <a:ext cx="26151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Upward convective velocity: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w↑ = k↑ √(g·Q·H_ref / ρ·Cp·T_a)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Horizontal inflow (entrainment):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U_ind = k_ind · w↑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directed anti-parallel to ∇φ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Balbi buoyancy augmentation: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v_b,eff = √(v_b,fuel² + v_b,Q²)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Stronger plume → more vertical flame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→ reduced ROS (physically consistent)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Fuel Moisture &amp; Fire Ecology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Dynamic moisture modelling + per-cell ecological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6052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DD6"/>
                </a:solidFill>
              </a:rPr>
              <a:t>Fuel Moisture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39776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Nelson (2000) Diurnal EMC:
  Equilibrium moisture from T and RH hourly schedule
Precipitation Wetting / Drying (Rothermel 1983):
  M_new = M_sat(1−e^(−Δt/τ_wet)) + M_old·e^(−Δt/τ_wet)
  M_new = M_EMC + (M_old−M_EMC)·e^(−Δt/τ_dry)
  τ_wet: 1-hr=1h / 10-hr=2h / 100-hr=4h
Per-cell spatial moisture from FARSITE .fms scenario:
  5 components: d1/d10/d100 dead + lh/lw live
  Stored as MultiFab; GPU-safe device lookup
Live Fuel Conditioning Ramp:
  M_lh → M_d100 × 1.5  (herbaceous)
  M_lw → M_d100 × 2.0  (woody)
  Matches FARSITE spin-up behaviour
Output: moisture_d1/d10/d100/lh/lw in every plotfile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425196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Fire Ecology &amp; Emissions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Byram (1959) Fireline Intensity: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I_B [kW/m] = H · w_a · 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Flame Length:  L_f = 0.0775 · I_B^0.46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Scorch Height (Van Wagner 1973):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H_s = 0.1483 · I_B^(2/3)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Tree Mortality (Ryan &amp; Reinhardt 1988):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CSR = (H_s−CBH)/(H_tree−CBH)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P_kill = 1 / (1 + exp(−4(CSR−0.6)))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50% kill at 60% crown scorch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Fire Emissions (Seiler &amp; Crutzen 1980):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E = W_fuel × f_c × EF_species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CO₂=1.570 / CO=0.102 / PM₂.₅=0.0162 kg/kg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A500"/>
                </a:solidFill>
              </a:rPr>
              <a:t>Fire Whirl (Weise &amp; Biging 1996):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D0D8EF"/>
                </a:solidFill>
              </a:rPr>
              <a:t>  Fr = U² / (g·L_f)  →  tilt, height, radius, 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Novelty &amp; 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What makes Wildfire-AMR unique vs. FARSITE / WRF-SFIRE / FlamMap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34440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893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4A1E"/>
                </a:solidFill>
              </a:rPr>
              <a:t>🖥️  GPU-Native Kernels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673352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AMReX CUDA / HIP / SYCL throughout.
FARSITE, FlamMap, WRF-SFIRE are serial CPU-only.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1234440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2893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DD6"/>
                </a:solidFill>
              </a:rPr>
              <a:t>🔢  Multi-Model Spread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1673352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7 fire spread models in one solver.
FARSITE has only Rothermel (1972).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633472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26883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A500"/>
                </a:solidFill>
              </a:rPr>
              <a:t>🌊  Eulerian Level-Set (WENO5-Z)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072384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Automatic merging of fire fronts and islands.
No explicit perimeter connectivity management.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2633472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6883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AF50"/>
                </a:solidFill>
              </a:rPr>
              <a:t>🌪️  Viegas Eruptive Fire 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072384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Exponential slope factor Φ = exp(a_V tanφ)
flags cells where Rothermel under-predicts by ε=(R_V−R_R)/R_R.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4032504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40873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4A1E"/>
                </a:solidFill>
              </a:rPr>
              <a:t>🔥  Fire Whirl Characterisation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4471416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Weise &amp; Biging (1996) whirl geometry from Byram
intensity + Froude number — unique among open-source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4032504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40873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DD6"/>
                </a:solidFill>
              </a:rPr>
              <a:t>📡  Multi-Station IDW Weather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4471416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Spatial wind interpolation from multiple .wtr stations.
No other open-source tool supports this natively.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5431536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548639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A500"/>
                </a:solidFill>
              </a:rPr>
              <a:t>🌲  Albini 2-D Trajectory Spotting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5870448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Firebrands lofted by Albini (1983) plume formula
then advected through full 2-D wind field.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5431536"/>
            <a:ext cx="4251960" cy="1325880"/>
          </a:xfrm>
          <a:prstGeom prst="rect">
            <a:avLst/>
          </a:prstGeom>
          <a:solidFill>
            <a:srgbClr val="1818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548639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AF50"/>
                </a:solidFill>
              </a:rPr>
              <a:t>🛡️  Embedded Boundary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5870448"/>
            <a:ext cx="4005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F"/>
                </a:solidFill>
              </a:rPr>
              <a:t>AMReX EB: buildings and fuel breaks on Cartesian grid
without remeshing — unique in this class of solver.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Existing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Wildfire-AMR vs. FARSITE · WRF-SFIRE · FlamMap · FIRETEC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234440"/>
            <a:ext cx="1828800" cy="384048"/>
          </a:xfrm>
          <a:prstGeom prst="rect">
            <a:avLst/>
          </a:prstGeom>
          <a:solidFill>
            <a:srgbClr val="E84A1E"/>
          </a:solidFill>
          <a:ln w="9525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234440"/>
            <a:ext cx="1874519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79" y="1261872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Wildfire-AMR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79" y="1234440"/>
            <a:ext cx="141732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199" y="12618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FARSITE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799" y="1234440"/>
            <a:ext cx="141732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19" y="12618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WRF-SFIRE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19" y="1234440"/>
            <a:ext cx="141732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39" y="12618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FIRETEC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1618488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" y="16733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Surface ROS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1618488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0824" y="1673352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7 (Rothermel+6)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161848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3" y="16733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Rothermel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799" y="161848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3" y="16733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Rothermel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19" y="161848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16733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Physics 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2185416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Propagation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185416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224028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LS + FARSITE + MTT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79" y="218541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5343" y="22402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Huygens wavelet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799" y="218541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12663" y="22402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Level-set (Euler)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19" y="218541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3" y="22402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CFD Eulerian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752344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" y="28072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Crown fire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65960" y="2752344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280720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Van Wagner + Cruz + TI/CI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79" y="2752344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5343" y="280720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Van Wagner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799" y="2752344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2663" y="280720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Van Wagner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19" y="2752344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3" y="280720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Physics comb.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3319272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" y="33741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GPU acceleration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3319272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3374136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✓ CUDA/HIP/SYCL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79" y="331927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5343" y="337413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799" y="331927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12663" y="337413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19" y="331927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9983" y="337413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Partial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3886200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024" y="394106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MPI parallelism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65960" y="3886200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0824" y="3941063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✓ AMReX MPI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79" y="3886200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5343" y="3941063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 Serial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799" y="3886200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12663" y="3941063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✓ WRF MPI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19" y="3886200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9983" y="3941063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✓ MPI/OpenMP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4453128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2024" y="450799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Embedded boundary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65960" y="4453128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20824" y="4507992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✓ AMReX EB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79" y="445312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5343" y="45079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7799" y="445312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12663" y="45079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19" y="4453128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29983" y="45079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✓ 3-D geom.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5020056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2024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Firebrand spotting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65960" y="5020056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20824" y="507492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Albini 2-D traj.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79" y="502005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95343" y="5074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Albini empirical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57799" y="502005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12663" y="5074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Not included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75119" y="5020056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29983" y="5074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Select vers.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5586983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4" y="564184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Open source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65960" y="5586983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20824" y="5641847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✓ MIT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79" y="5586983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95343" y="5641847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4A1E"/>
                </a:solidFill>
              </a:rPr>
              <a:t>✗ Proprietary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57799" y="5586983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12663" y="5641847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✓ WRF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75119" y="5586983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29983" y="5641847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Restricted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6153912"/>
            <a:ext cx="182880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92024" y="6208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Atmo. coupling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65960" y="6153912"/>
            <a:ext cx="1874519" cy="566928"/>
          </a:xfrm>
          <a:prstGeom prst="rect">
            <a:avLst/>
          </a:prstGeom>
          <a:solidFill>
            <a:srgbClr val="182810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20824" y="6208776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Heat-flux corr.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79" y="615391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95343" y="62087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None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57799" y="615391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12663" y="62087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Two-way WRF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75119" y="6153912"/>
            <a:ext cx="1417320" cy="566928"/>
          </a:xfrm>
          <a:prstGeom prst="rect">
            <a:avLst/>
          </a:prstGeom>
          <a:solidFill>
            <a:srgbClr val="1E1E35"/>
          </a:solidFill>
          <a:ln w="6350">
            <a:solidFill>
              <a:srgbClr val="8B9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29983" y="620877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F"/>
                </a:solidFill>
              </a:rPr>
              <a:t>One-way QUIC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A GPU-native, physics-rich, open-source wildfire simulation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6052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E8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1E"/>
                </a:solidFill>
              </a:rPr>
              <a:t>What Wildfire-AMR 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39776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Unified interface: 7 fire spread models +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3 propagation methods in one framework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GPU kernels (CUDA/HIP/SYCL) via AMReX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— serial tools are orders of magnitude slower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Automatic front merging via level-set φ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— no Huygens connectivity bookkeeping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Full fire ecology pipeline: crown, spotting,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emissions, tree mortality, fire whirls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Dynamic fuel moisture: diurnal, rain wetting,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live conditioning, per-cell .fms spatial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FARSITE-compatible inputs: LCP, .wtr, .fms,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>   retardant drops, non-burnable masking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FFA500"/>
                </a:solidFill>
              </a:rPr>
              <a:t>✓  MIT open-source — reproducible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4251960" cy="5303520"/>
          </a:xfrm>
          <a:prstGeom prst="rect">
            <a:avLst/>
          </a:prstGeom>
          <a:solidFill>
            <a:srgbClr val="121225"/>
          </a:solidFill>
          <a:ln w="19050">
            <a:solidFill>
              <a:srgbClr val="00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984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DD6"/>
                </a:solidFill>
              </a:rPr>
              <a:t>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🔗  Two-way fire–atmosphere coupling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ERF (Energy Research &amp; Forecasting)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>    atmospheric model integration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📐  Adaptive Mesh Refinement (AMR)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AMReX AMR infrastructure already in place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Refine grid near fire perimeter only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🌏  WRF-driven ensemble fire forecasting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Multi-station IDW + WRF wind fields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Stochastic spotting ensembles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🛠️  Smoke &amp; air quality coupling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CO₂ / CO / PM₂.₅ emission transport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🏙️  Urban wildfire (WUI) simulations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Embedded boundary buildings +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FARSITE-style fuel mapping in WUI zones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D0D8E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00BDD6"/>
                </a:solidFill>
              </a:rPr>
              <a:t>📊  Machine-learning ROS surrogates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GPU-trained correction of Rothermel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8B95B0"/>
                </a:solidFill>
              </a:rPr>
              <a:t>    → from high-fidelity LES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