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2560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1371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Wildfire-AMR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39C12"/>
                </a:solidFill>
              </a:rPr>
              <a:t>An AMReX-based level-set solver for wildfire front propagation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Rothermel · FARSITE · Balbi · Crown Fire · Firebrand Spotting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99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CF0F1"/>
                </a:solidFill>
              </a:rPr>
              <a:t>Fuel Adjustment · Time-Varying Moisture · Spatial Crown Layers · Perimeter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39C12"/>
                </a:solidFill>
              </a:rPr>
              <a:t>GPU-Accelerated (CUDA / HIP / SYCL)  ·  MPI-Parallel  ·  Embedded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ECF0F1"/>
                </a:solidFill>
              </a:rPr>
              <a:t>github.com/hgopalan/wildfire_levelset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700"/>
                </a:solidFill>
              </a:rPr>
              <a:t>⚠ AI-assisted research code — validate before operational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Why a new level-set wildfire solver?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84048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365760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🔥  Wildfire area in the US exceeded 10 M acres in recent years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🔥  Climate change is extending fire seasons globally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🔥  Operational tools (FARSITE, FlamMap) are serial CPU codes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🔥  WRF-SFIRE couples fire to atmosphere but is complex to run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🔥  Research needs fast, open, GPU-ready experimentation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84048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980B9"/>
                </a:solidFill>
              </a:rPr>
              <a:t>Our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27632"/>
            <a:ext cx="365760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✔  Open-source AMReX framework (LBNL) for structured meshes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✔  Level-set method: robust, implicit fire front representation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✔  Plug-in fire spread models: Rothermel, Balbi, Cheney-Gould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✔  FARSITE elliptical expansion on an Eulerian grid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✔  GPU kernels via AMReX ParallelFor (CUDA/HIP/SYCL)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188720"/>
            <a:ext cx="365760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</a:rPr>
              <a:t>Key Differentiators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627632"/>
            <a:ext cx="347472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★  Fully open-source (GitHub)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★  Supports real LANDFIRE landscape files (.lcp)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★  GIS output: GeoTIFF, GeoJSON, CSV perimeters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★  Compatible with WRF/WindNinja wind fields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★  Regression-tested, documented, benchmarked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Repository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161288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200" b="1">
                <a:solidFill>
                  <a:srgbClr val="C0392B"/>
                </a:solidFill>
                <a:latin typeface="Courier New"/>
              </a:rPr>
              <a:t>src/                                </a:t>
            </a:r>
            <a:r>
              <a:rPr sz="1200">
                <a:solidFill>
                  <a:srgbClr val="556B7D"/>
                </a:solidFill>
              </a:rPr>
              <a:t>C++ solver source (all models, I/O, main loop)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2C3E50"/>
                </a:solidFill>
                <a:latin typeface="Courier New"/>
              </a:rPr>
              <a:t>  main.cpp                          </a:t>
            </a:r>
            <a:r>
              <a:rPr sz="1200">
                <a:solidFill>
                  <a:srgbClr val="556B7D"/>
                </a:solidFill>
              </a:rPr>
              <a:t>AMReX setup, time loop, plotfile writes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2C3E50"/>
                </a:solidFill>
                <a:latin typeface="Courier New"/>
              </a:rPr>
              <a:t>  rothermel_model.H                 </a:t>
            </a:r>
            <a:r>
              <a:rPr sz="1200">
                <a:solidFill>
                  <a:srgbClr val="556B7D"/>
                </a:solidFill>
              </a:rPr>
              <a:t>Rothermel (1972) ROS + Andrews (2018) adjustments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2C3E50"/>
                </a:solidFill>
                <a:latin typeface="Courier New"/>
              </a:rPr>
              <a:t>  farsite_ellipse.H                 </a:t>
            </a:r>
            <a:r>
              <a:rPr sz="1200">
                <a:solidFill>
                  <a:srgbClr val="556B7D"/>
                </a:solidFill>
              </a:rPr>
              <a:t>Richards (1990) FARSITE elliptical expansion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2C3E50"/>
                </a:solidFill>
                <a:latin typeface="Courier New"/>
              </a:rPr>
              <a:t>  balbi_model.H                     </a:t>
            </a:r>
            <a:r>
              <a:rPr sz="1200">
                <a:solidFill>
                  <a:srgbClr val="556B7D"/>
                </a:solidFill>
              </a:rPr>
              <a:t>Balbi (2009) physical fire spread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2C3E50"/>
                </a:solidFill>
                <a:latin typeface="Courier New"/>
              </a:rPr>
              <a:t>  lcp_binary_reader.H               </a:t>
            </a:r>
            <a:r>
              <a:rPr sz="1200">
                <a:solidFill>
                  <a:srgbClr val="556B7D"/>
                </a:solidFill>
              </a:rPr>
              <a:t>Binary FARSITE LCP reader (new)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2C3E50"/>
                </a:solidFill>
                <a:latin typeface="Courier New"/>
              </a:rPr>
              <a:t>  fuel_adjustment.H                 </a:t>
            </a:r>
            <a:r>
              <a:rPr sz="1200">
                <a:solidFill>
                  <a:srgbClr val="556B7D"/>
                </a:solidFill>
              </a:rPr>
              <a:t>.adj fuel adjustment file reader (new)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2C3E50"/>
                </a:solidFill>
                <a:latin typeface="Courier New"/>
              </a:rPr>
              <a:t>  fuel_moisture_scheduler.H         </a:t>
            </a:r>
            <a:r>
              <a:rPr sz="1200">
                <a:solidFill>
                  <a:srgbClr val="556B7D"/>
                </a:solidFill>
              </a:rPr>
              <a:t>Time-varying .fmd moisture (new)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2C3E50"/>
                </a:solidFill>
                <a:latin typeface="Courier New"/>
              </a:rPr>
              <a:t>  scott_spotting_table.H            </a:t>
            </a:r>
            <a:r>
              <a:rPr sz="1200">
                <a:solidFill>
                  <a:srgbClr val="556B7D"/>
                </a:solidFill>
              </a:rPr>
              <a:t>Max spotting distance table (new)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2C3E50"/>
                </a:solidFill>
                <a:latin typeface="Courier New"/>
              </a:rPr>
              <a:t>  write_xy_data.H                   </a:t>
            </a:r>
            <a:r>
              <a:rPr sz="1200">
                <a:solidFill>
                  <a:srgbClr val="556B7D"/>
                </a:solidFill>
              </a:rPr>
              <a:t>Perimeter CSV/GeoJSON + stats CSV (new)</a:t>
            </a:r>
          </a:p>
          <a:p>
            <a:pPr>
              <a:spcBef>
                <a:spcPts val="100"/>
              </a:spcBef>
            </a:pPr>
            <a:r>
              <a:rPr sz="1200" b="1">
                <a:solidFill>
                  <a:srgbClr val="C0392B"/>
                </a:solidFill>
                <a:latin typeface="Courier New"/>
              </a:rPr>
              <a:t>tools/                              </a:t>
            </a:r>
            <a:r>
              <a:rPr sz="1200">
                <a:solidFill>
                  <a:srgbClr val="556B7D"/>
                </a:solidFill>
              </a:rPr>
              <a:t>Python pre/post-processing utilities</a:t>
            </a:r>
          </a:p>
          <a:p>
            <a:pPr>
              <a:spcBef>
                <a:spcPts val="100"/>
              </a:spcBef>
            </a:pPr>
            <a:r>
              <a:rPr sz="1200" b="1">
                <a:solidFill>
                  <a:srgbClr val="C0392B"/>
                </a:solidFill>
                <a:latin typeface="Courier New"/>
              </a:rPr>
              <a:t>regtest/                            </a:t>
            </a:r>
            <a:r>
              <a:rPr sz="1200">
                <a:solidFill>
                  <a:srgbClr val="556B7D"/>
                </a:solidFill>
              </a:rPr>
              <a:t>Regression tests (CTest / CMake)</a:t>
            </a:r>
          </a:p>
          <a:p>
            <a:pPr>
              <a:spcBef>
                <a:spcPts val="100"/>
              </a:spcBef>
            </a:pPr>
            <a:r>
              <a:rPr sz="1200" b="1">
                <a:solidFill>
                  <a:srgbClr val="C0392B"/>
                </a:solidFill>
                <a:latin typeface="Courier New"/>
              </a:rPr>
              <a:t>docs/                               </a:t>
            </a:r>
            <a:r>
              <a:rPr sz="1200">
                <a:solidFill>
                  <a:srgbClr val="556B7D"/>
                </a:solidFill>
              </a:rPr>
              <a:t>Sphinx documentation</a:t>
            </a:r>
          </a:p>
          <a:p>
            <a:pPr>
              <a:spcBef>
                <a:spcPts val="100"/>
              </a:spcBef>
            </a:pPr>
            <a:r>
              <a:rPr sz="1200" b="1">
                <a:solidFill>
                  <a:srgbClr val="C0392B"/>
                </a:solidFill>
                <a:latin typeface="Courier New"/>
              </a:rPr>
              <a:t>external/                           </a:t>
            </a:r>
            <a:r>
              <a:rPr sz="1200">
                <a:solidFill>
                  <a:srgbClr val="556B7D"/>
                </a:solidFill>
              </a:rPr>
              <a:t>AMReX submodule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Level-Set Method for Fire Front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Hamilton-Jacobi PDE on a fixed Eulerian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9436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Level-Set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5760720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Fire front = zero-contour of signed distance function φ(x,t)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φ &lt; 0  inside burned region;  φ &gt; 0  outside (unburned)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Front advances via: ∂φ/∂t + F|∇φ| = 0   (F = ROS)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WENO5Z spatial scheme + 3rd-order TVD Runge-Kutta in time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Periodic reinitialization restores signed-distance property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Supports both pure level-set and FARSITE ellipse propagation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486400" cy="2286000"/>
          </a:xfrm>
          <a:prstGeom prst="rect">
            <a:avLst/>
          </a:prstGeom>
          <a:solidFill>
            <a:srgbClr val="FDF6E3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Level-set PDE  /  FARSITE speed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481328"/>
            <a:ext cx="53035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∂φ/∂t + F|∇φ| = 0
F(x,t) = R(x,t) = Rothermel / Balbi / FARSITE ROS
F_FARSITE(θ) = a / (1 − b·cos(θ − θ_wind))
  a = (R_head + R_back)/2
  b = (R_head − R_back)/(R_head + R_back)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611880"/>
            <a:ext cx="5486400" cy="1828800"/>
          </a:xfrm>
          <a:prstGeom prst="rect">
            <a:avLst/>
          </a:prstGeom>
          <a:solidFill>
            <a:srgbClr val="FDF6E3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657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Signed-distance reinitialization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904488"/>
            <a:ext cx="53035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Reinitialization PDE:
∂φ/∂τ + sign(φ₀)(|∇φ| − 1) = 0
advanced to steady state (|∇φ| → 1)
using WENO5Z + RK3 in pseudo-time 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846320"/>
            <a:ext cx="5943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9377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Numerics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285232"/>
            <a:ext cx="57607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WENO5Z (Borges 2008): 5th-order upwind, low dissipation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TVD-RK3 (Shu-Osher): 3rd-order, total-variation stable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Adaptive dt from CFL condition: dt = CFL·dx/max(F)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Ghost-cell / extrap. BCs at domain boundaries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Rothermel (1972) Fire Spread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Semi-empirical surface fire ROS — the core of FARSITE and FlamMap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7132320" cy="2926080"/>
          </a:xfrm>
          <a:prstGeom prst="rect">
            <a:avLst/>
          </a:prstGeom>
          <a:solidFill>
            <a:srgbClr val="FDF6E3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Rothermel ROS equation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81328"/>
            <a:ext cx="694944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R = I_R · ξ · (1 + φ_w + φ_s) / (ρ_b · ε · Q_ig)
I_R  = Γ' · w_n · h · η_M · η_s       [reaction intensity, kW/m²]
ξ    = exp(0.792 + 0.681·σ^0.5 · (β+0.1)) / (192 + 0.259·σ)
φ_w  = C · (U / (β·β_op)^E)^B         [wind factor]
φ_s  = 5.275 · β^−0.3 · tan²(θ)       [slope factor]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51960"/>
            <a:ext cx="7132320" cy="2377440"/>
          </a:xfrm>
          <a:prstGeom prst="rect">
            <a:avLst/>
          </a:prstGeom>
          <a:solidFill>
            <a:srgbClr val="FDF6E3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429768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Moisture damping &amp; fuel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44568"/>
            <a:ext cx="694944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η_M = 1 − 2.59·r_M + 5.11·r_M² − 3.52·r_M³
r_M = M_f / M_x   (dead fuel: M_x = 0.12–0.40)
Multi-class moisture (1-hr, 10-hr, 100-hr, live herb, live wood):
w_n = w₁·(1−S_T) + w₁₀·(1−S_T) + w₁₀₀·(1−S_T) + w_lh·... + w_lw·...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188720"/>
            <a:ext cx="438912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280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Fuel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627632"/>
            <a:ext cx="4206240" cy="486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Anderson 13 models: FM1–FM13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Scott &amp; Burgan 40 models: GR, GS, SH, TU, TL, SB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Per-cell fuel from FARSITE landscape file (.lcp)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Andrews (2018) WAF: 20-ft → midflame wind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Andrews (2018) MEWS: cap φ_w at 90% of I_R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Fuel adj. file (.adj): per-model ROS multiplier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Time-varying moisture (.fmd): hourly update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FARSITE Elliptical Fire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Richards (1990) Huygens wavelet — Eulerian level-set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3035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Ellipse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51206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Each fire-front point launches an elliptical wavelet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Ellipse axes set by R_head, R_back, L/W ratio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Eulerian implementation: FARSITE spread vector d = (dx, dy) per cell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Level-set advected by φ_t + d·∇φ = 0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Anderson (1982) dynamic L/W: L/W = 0.936·exp(0.1147·U) + 0.461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Alternative shapes: Catchpole-de Mestre, Wilson, Alexander lemniscate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188720"/>
            <a:ext cx="6126480" cy="2560320"/>
          </a:xfrm>
          <a:prstGeom prst="rect">
            <a:avLst/>
          </a:prstGeom>
          <a:solidFill>
            <a:srgbClr val="FDF6E3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234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FARSITE ellipse geometry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481328"/>
            <a:ext cx="594360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Ellipse semi-axes:
  a = (R_head + R_back) / 2   (semi-major)
  b = a / LW_ratio             (semi-minor)
  c = a − R_back               (focus offset)
Speed in direction θ (from head):
  F(θ) = a·(1 − e²) / (1 − e·cos θ)
  e = c/a (eccentricity)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3931920"/>
            <a:ext cx="6126480" cy="2286000"/>
          </a:xfrm>
          <a:prstGeom prst="rect">
            <a:avLst/>
          </a:prstGeom>
          <a:solidFill>
            <a:srgbClr val="FDF6E3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39776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Spread vector computation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4224528"/>
            <a:ext cx="594360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Head ROS:   R_head = R_Rothermel(U_wind, slope)
Back ROS:   R_back = R_head / (LW + (LW²−1)^0.5)
FARSITE spread vector per cell (i,j):
  d_x = F(θ) · cos(θ_wind + θ_slope)
  d_y = F(θ) · sin(θ_wind + θ_slope)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Balbi (2009) Physical Fire Spread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Radiation-driven, physics-based ROS — replaces Rothermel when fire_spread_model=balbi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7772400" cy="2926080"/>
          </a:xfrm>
          <a:prstGeom prst="rect">
            <a:avLst/>
          </a:prstGeom>
          <a:solidFill>
            <a:srgbClr val="FDF6E3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Balbi ROS equation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27048"/>
            <a:ext cx="75895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R = A · (1 + sin α − cos α) · exp(B·U_eff·cos α) − B·U_eff·cos α · R₀
A = r·B·[T_f/(T_a − T_f)] · [1 − exp(−B·U_eff·cos α)]
B = C_p_f · ρ_f · (1 + δ/h)^(−1)  (geometric factor)
α = flame tilt angle from vertical
U_eff = wind + buoyancy: v_b = √(v_b_fuel² + v_b_Q²)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97680"/>
            <a:ext cx="7772400" cy="2286000"/>
          </a:xfrm>
          <a:prstGeom prst="rect">
            <a:avLst/>
          </a:prstGeom>
          <a:solidFill>
            <a:srgbClr val="FDF6E3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434340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Flame tilt and buoyancy velocity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90288"/>
            <a:ext cx="75895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tan α = U_eff / v_b  (from momentum balance)
v_b = √(2g·δ·(T_f−T_a)/T_a)  (buoyancy from fuel)
v_b_Q = k_upward·√(g·Q·H / (ρ·C_p·T_a))  (from heat flux Q)
R₀ = radiant ROS with no wind/slope (Albini 1985)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234440"/>
            <a:ext cx="39319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32588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Usage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673352"/>
            <a:ext cx="37490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Activated by fire_spread_model = balbi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Auto-generates per-fuel Balbi parameter table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Parameters: T_a, T_f, T_i, C_p_f, rho_f, h, r, delta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Fully compatible with all 6 Viegas wind-terrain options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Heat flux Q augments buoyancy velocity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Landscape .lcp fuel model used for per-cell table lookup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Crown Fire, Firebrand Spotting &amp; Ecology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9319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Crown Fire (Van Wagner 1977)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27632"/>
            <a:ext cx="3749040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Van Wagner (1977) active crown fire criterion: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  I_B ≥ I_B_crit = (0.01·CBD·(CBH/FMC)²)^1.5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Crown fraction = I_B / I_B_crit (clamped 0–1)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Per-cell CBH, CBD from binary LCP (use_spatial_crown=1)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Global fallback: crown.CBH, crown.CBD, crown.FMC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188720"/>
            <a:ext cx="39319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8016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Firebrand Spotting (Albini 1983)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27632"/>
            <a:ext cx="3749040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Albini (1983) 2D trajectory integration: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  z_max = terminal_velocity·√(I_B/(C_d·g·ρ_a))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  Trajectory integrated with RK2 including drag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  Spot activated when φ &gt; 0 at landing cell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Stochastic model: P_spot ~ P_base·(I_B/I_ref)·f(M_f)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Scott/Albini table: max distance by fuel model + wind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188720"/>
            <a:ext cx="34747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Fire Behavior Diagnostics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627632"/>
            <a:ext cx="3291840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Byram (1959) fireline intensity: I_B = H·w·R [kW/m]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Byram flame length: L_f = 0.0775·I_B^0.46 [m]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Van Wagner scorch height [m]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Anderson (1970) prob. of sustained ignition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Ryan-Reinhardt tree mortality fraction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Crown activity: surface / passive / active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CO₂, CO, PM₂.₅ emissions [kg/m²]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343400"/>
            <a:ext cx="11887200" cy="2377440"/>
          </a:xfrm>
          <a:prstGeom prst="rect">
            <a:avLst/>
          </a:prstGeom>
          <a:solidFill>
            <a:srgbClr val="FDF6E3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38912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Fire intensity &amp; spotting distance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636008"/>
            <a:ext cx="1170432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I_B = H · Σ(w_i · r_i) · R  [kW/m]
  H = heat content [kJ/kg]
  w_i = fuel load per class [kg/m²]
  r_i = consumption fraction
Scott/Albini max distance [m] by fuel model:
  FM4: 1800 m  FM10: 1200 m  FM13: 1800 m
  d_scaled = d_base · √(U / 9 m/s)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Terrain Effects &amp; Wind-Terrain Feedback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760720" cy="2651760"/>
          </a:xfrm>
          <a:prstGeom prst="rect">
            <a:avLst/>
          </a:prstGeom>
          <a:solidFill>
            <a:srgbClr val="FDF6E3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Slope 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557784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Rothermel (1972) slope factor:
  φ_s = 5.275 · β^(−0.3) · tan²(θ_slope)
FARSITE aspect correction: rotate wind vector by terrain aspect
Per-cell slope &amp; aspect from:
  1) Constant values (slope=, aspect=)
  2) Terrain XYZ file (rothermel.terrain_file)
  3) Binary or ASCII landscape .lcp (rothermel.landscape_file)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7607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wind_terrain.model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00" b="1">
                <a:solidFill>
                  <a:srgbClr val="C0392B"/>
                </a:solidFill>
                <a:latin typeface="Courier New"/>
              </a:rPr>
              <a:t>1 – Default       </a:t>
            </a:r>
            <a:r>
              <a:rPr sz="1100">
                <a:solidFill>
                  <a:srgbClr val="2C3E50"/>
                </a:solidFill>
              </a:rPr>
              <a:t>No modification; ambient wind drives ROS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C0392B"/>
                </a:solidFill>
                <a:latin typeface="Courier New"/>
              </a:rPr>
              <a:t>2 – Viegas ROS    </a:t>
            </a:r>
            <a:r>
              <a:rPr sz="1100">
                <a:solidFill>
                  <a:srgbClr val="2C3E50"/>
                </a:solidFill>
              </a:rPr>
              <a:t>Viegas (2004) exp. slope factor as actual ROS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C0392B"/>
                </a:solidFill>
                <a:latin typeface="Courier New"/>
              </a:rPr>
              <a:t>3 – Viegas wind   </a:t>
            </a:r>
            <a:r>
              <a:rPr sz="1100">
                <a:solidFill>
                  <a:srgbClr val="2C3E50"/>
                </a:solidFill>
              </a:rPr>
              <a:t>Buoyancy upslope velocity perturbation (eruptive)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C0392B"/>
                </a:solidFill>
                <a:latin typeface="Courier New"/>
              </a:rPr>
              <a:t>4 – Canyon wind   </a:t>
            </a:r>
            <a:r>
              <a:rPr sz="1100">
                <a:solidFill>
                  <a:srgbClr val="2C3E50"/>
                </a:solidFill>
              </a:rPr>
              <a:t>Rothermel (1983) canyon wind amplification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C0392B"/>
                </a:solidFill>
                <a:latin typeface="Courier New"/>
              </a:rPr>
              <a:t>5 – Viegas-Neto   </a:t>
            </a:r>
            <a:r>
              <a:rPr sz="1100">
                <a:solidFill>
                  <a:srgbClr val="2C3E50"/>
                </a:solidFill>
              </a:rPr>
              <a:t>Viegas &amp; Neto (1994) buoyancy-driven upslope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C0392B"/>
                </a:solidFill>
                <a:latin typeface="Courier New"/>
              </a:rPr>
              <a:t>6 – Pimont        </a:t>
            </a:r>
            <a:r>
              <a:rPr sz="1100">
                <a:solidFill>
                  <a:srgbClr val="2C3E50"/>
                </a:solidFill>
              </a:rPr>
              <a:t>Pimont et al. (2009) exponential slope correction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C0392B"/>
                </a:solidFill>
                <a:latin typeface="Courier New"/>
              </a:rPr>
              <a:t>7 – WindNinja     </a:t>
            </a:r>
            <a:r>
              <a:rPr sz="1100">
                <a:solidFill>
                  <a:srgbClr val="2C3E50"/>
                </a:solidFill>
              </a:rPr>
              <a:t>Ridge/canyon empirical speed-up (wind-slope alignment)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977639"/>
            <a:ext cx="5760720" cy="2697480"/>
          </a:xfrm>
          <a:prstGeom prst="rect">
            <a:avLst/>
          </a:prstGeom>
          <a:solidFill>
            <a:srgbClr val="FDF6E3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023359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Terrain coupling equations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70247"/>
            <a:ext cx="5577840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Viegas eruptive criterion:
  R_V / R₀ = exp(a_V · tan φ)
  Eruptive when R_V / R₀ &gt; critical ratio
WindNinja ridge/canyon:
  f_ridge  = 1 + k_ridge · tanφ · alignment
  f_canyon = 1 + k_canyon · tanφ · |alignment|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160520"/>
            <a:ext cx="576072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2519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Turbulence &amp; Heat-Flux Wind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599432"/>
            <a:ext cx="557784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Turbulent wind: Ornstein-Uhlenbeck process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σ = amplitude, θ = decorrelation rate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Options: OU, Gaussian spatial corr., RFF spectral, direction walk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Heat flux: fire plume buoyancy (upward + inflow)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New Features (2025)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Binary LCP · Crown Layers · Fuel Adj · FMD Moisture · Perimeter Output · Spotting Table · Stats CSV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8346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8346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225296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🗺  Binary LCP Reader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27632"/>
            <a:ext cx="2651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Auto-detects binary vs ASCII .lcp format.
Reads all layers including crown CBH/CBD/CC.
src/lcp_binary_reader.H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188720"/>
            <a:ext cx="28346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7F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188720"/>
            <a:ext cx="2834640" cy="384048"/>
          </a:xfrm>
          <a:prstGeom prst="rect">
            <a:avLst/>
          </a:prstGeom>
          <a:solidFill>
            <a:srgbClr val="167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2" y="1225296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🌲  Spatial Crown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27632"/>
            <a:ext cx="2651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Per-cell CBH, CBD, canopy cover from binary LCP.
Written to every plotfile as cbh/cbd/canopy_cover.
use_spatial_crown = 1 (default)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28346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283464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225296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⚙  Fuel Adjustment (.adj)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627632"/>
            <a:ext cx="2651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Per-fuel-model ROS multipliers at startup.
fuel_adj_file = fire.adj
tools/farsite_adj_reader.py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188720"/>
            <a:ext cx="28346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188720"/>
            <a:ext cx="2834640" cy="38404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2872" y="1225296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💧  Time-Varying Moisture (.fmd)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627632"/>
            <a:ext cx="2651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Hourly moisture schedule; updates every step.
fmd_file = schedule.fmd
tools/farsite_fmd_reader.py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49040"/>
            <a:ext cx="28346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749040"/>
            <a:ext cx="283464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3785616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📍  Perimeter CSV / GeoJSON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187952"/>
            <a:ext cx="2651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Fire front boundary at every plotfile step.
write_perimeter_csv = 1
write_perimeter_geojson =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749040"/>
            <a:ext cx="28346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18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46120" y="3749040"/>
            <a:ext cx="2834640" cy="384048"/>
          </a:xfrm>
          <a:prstGeom prst="rect">
            <a:avLst/>
          </a:prstGeom>
          <a:solidFill>
            <a:srgbClr val="218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9272" y="3785616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 Spotting Distance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187952"/>
            <a:ext cx="2651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Scott/Albini (1979) max distances by FBFM13/40.
Diagnostic printed alongside Albini spotting.
src/scott_spotting_table.H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749040"/>
            <a:ext cx="28346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749040"/>
            <a:ext cx="28346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3785616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📈  Burned Area Time Series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187952"/>
            <a:ext cx="2651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fire_stats.csv: step, time, area [ha],
perimeter [km], front cells, emissions.
fire_stats_file = fire_stats.csv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Input Parameters (inputs.i / ParmParse)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8346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Grid /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27632"/>
            <a:ext cx="265176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n_cell_x/y/z = 64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prob_lo/hi_x/y/z = 0 / 1000 [m]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max_grid_size = 64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cfl = 0.5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nsteps or final_time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18688" y="1188720"/>
            <a:ext cx="28346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0128" y="1280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Fire Spread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1627632"/>
            <a:ext cx="265176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fire_spread_model = rothermel|balbi|cheney_gould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propagation_method = levelset|farsite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rothermel.fuel_model = FM4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rothermel.landscape_file = terrain.lcp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rothermel.use_waf = 0|1  (Andrews WAF)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188720"/>
            <a:ext cx="28346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280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New: Fuel Adj &amp; Moisture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1627632"/>
            <a:ext cx="265176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fuel_adj_file = fire.adj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fuel_adj_model = 4 (global model)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fmd_file = schedule.fmd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fmd_start_month/day/hour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fmd_fuel_model = 0 (all models)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07424" y="1188720"/>
            <a:ext cx="28346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98864" y="1280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New: Perimeter &amp; Stats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1627632"/>
            <a:ext cx="265176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write_perimeter_csv = 1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write_perimeter_geojson = 1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fire_stats_file = fire_stats.csv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use_spatial_crown =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02736"/>
            <a:ext cx="28346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941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Crown Fire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041648"/>
            <a:ext cx="265176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crown.enable = 0|1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crown.CBH = 4.0 [m]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crown.CBD = 0.15 [kg/m³]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crown.FMC = 100.0 [%]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use_spatial_crown = 1 (from LCP)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18688" y="3602736"/>
            <a:ext cx="28346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128" y="36941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Spotting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4041648"/>
            <a:ext cx="265176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spotting.enable = 0|1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albini_spotting.enable = 0|1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albini_spotting.I_B_min = 10.0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albini_spotting.terminal_velocity = 1.0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Scott table printed as diagnostic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3602736"/>
            <a:ext cx="28346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36941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Wind-Terrain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4041648"/>
            <a:ext cx="265176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wind_terrain.model = none|viegas_ros|canyon_wind|...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turb_wind.model = ou|spectral_noise|...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heat_flux.value = 1000 [W/m²]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u_x / u_y / u_z [m/s]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velocity_file = wind.csv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07424" y="3602736"/>
            <a:ext cx="28346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864" y="36941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864" y="4041648"/>
            <a:ext cx="265176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plot_int = 50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chk_int = -1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viegas.enable = 0|1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weise_biging.enable = 0|1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emissions.EF_CO2 = 1.57 [kg/kg]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Python Tools (tools/ directory)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8346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8346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216152"/>
            <a:ext cx="2706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farsite_adj_reader.py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91056"/>
            <a:ext cx="2651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Inspect / generate / apply FARSITE .adj fuel adjustment files.
  --adj fire.adj                 (inspect)
  --generate --fuel-system 13    (template)
  --apply-csv params.csv         (calibrate)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27832" y="1188720"/>
            <a:ext cx="28346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27832" y="1188720"/>
            <a:ext cx="283464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16152"/>
            <a:ext cx="2706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farsite_fmd_reader.py  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1591056"/>
            <a:ext cx="2651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Parse / convert / query / generate .fmd moisture schedules.
  --fmd fire.fmd --output sched.csv
  --query-time 3600 --fuel-model 4
  --generate --M-d1 8 --hours 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1188720"/>
            <a:ext cx="28346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1188720"/>
            <a:ext cx="2834640" cy="3474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216152"/>
            <a:ext cx="2706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landscape_writer.py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1591056"/>
            <a:ext cx="2651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Download LANDFIRE rasters → FARSITE .lcp landscape file.
  --lat-min 40 --lat-max 40.5
  --lon-min -105 --lon-max -104.5
  Produces landscape.lcp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34856" y="1188720"/>
            <a:ext cx="28346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34856" y="1188720"/>
            <a:ext cx="2834640" cy="347472"/>
          </a:xfrm>
          <a:prstGeom prst="rect">
            <a:avLst/>
          </a:prstGeom>
          <a:solidFill>
            <a:srgbClr val="55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4" y="1216152"/>
            <a:ext cx="2706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srtm_terrain_reader.py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1591056"/>
            <a:ext cx="2651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Download SRTM1 elevation data → UTM terrain XYZ file.
  --lat-min 40.0 --lat-max 40.5
  --lon-min -105 --lon-max -104.5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30752"/>
            <a:ext cx="28346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730752"/>
            <a:ext cx="28346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3758184"/>
            <a:ext cx="2706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wrf_wind_reader.py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33088"/>
            <a:ext cx="2651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Extract U/V wind from a WRF netCDF file → solver wind CSV.
  --wrf-file wrfout_d01_...
  --wind wind.csv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27832" y="3730752"/>
            <a:ext cx="28346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832" y="3730752"/>
            <a:ext cx="2834640" cy="34747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758184"/>
            <a:ext cx="2706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farsite_weather_reader.py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9272" y="4133088"/>
            <a:ext cx="2651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Parse FARSITE .wtr RAWS weather files → time-stamped wind CSVs for use_time_dependent_wind.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3730752"/>
            <a:ext cx="28346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67F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1344" y="3730752"/>
            <a:ext cx="2834640" cy="347472"/>
          </a:xfrm>
          <a:prstGeom prst="rect">
            <a:avLst/>
          </a:prstGeom>
          <a:solidFill>
            <a:srgbClr val="167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5352" y="3758184"/>
            <a:ext cx="2706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fuel_moisture_from_weather.py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4133088"/>
            <a:ext cx="2651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Estimate equilibrium dead-fuel moisture from temperature and relative humidity (Nelson 1984).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34856" y="3730752"/>
            <a:ext cx="28346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34856" y="3730752"/>
            <a:ext cx="283464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98864" y="3758184"/>
            <a:ext cx="2706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plotfile_to_geotiff.py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4133088"/>
            <a:ext cx="2651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Convert AMReX plotfiles → GeoTIFF rasters + GeoJSON fire-perimeter contours.
  --all --outdir gis_out
  --utm-origin 450000 4200000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309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392B"/>
                </a:solidFill>
              </a:rPr>
              <a:t>★ New tools added in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Build, Run &amp;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572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27632"/>
            <a:ext cx="438912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cmake -S . -B build              (3D CPU default)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cmake -S . -B build -DLEVELSET_DIM_2D=ON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cmake -S . -B build -DLEVELSET_GPU_BACKEND=CUDA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cmake -S . -B build -DLEVELSET_ENABLE_MPI=ON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cmake --build build -j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474720"/>
            <a:ext cx="45720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566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913632"/>
            <a:ext cx="438912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./build/levelset inputs.i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Or override: u_x=5 cfl=0.4 plot_int=20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Works with any inputs.i from regtest/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Restart: restart_chkfile = chk0050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Checkpoint: chk_int = 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188720"/>
            <a:ext cx="69494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28016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Output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627632"/>
            <a:ext cx="67665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plt####/  — AMReX plotfile per plot_int step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phi_negative_NNNN.dat  — burned cell centres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phi_envelope_NNNN.dat  — convex hull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perimeter_NNNN.csv     — fire front boundary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perimeter_NNNN.geojson — GeoJSON Polygon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fire_stats.csv         — area/perimeter time series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429000"/>
            <a:ext cx="69494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352044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Plotfile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867912"/>
            <a:ext cx="676656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Plotfile variables: phi, velx/y, R, fireline_intensity, flame_length,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  cbh, cbd, canopy_cover (new),  elevation, slope, aspect, fuel_model,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  scorch_height, prob_ignition, tree_mortality, crown_activity,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  co2/co/pm25_emissions, arrival_time, heat_per_unit_area, vorticity_z,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  weise_*, viegas_*, spot_*, albini_*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●  View with: ParaView, VisIt, or tools/plotfile_to_geotiff.py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Regression Tests &amp; Timing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CTest framework — run with: cd build &amp;&amp; ctest -L regtest --output-on-failure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84048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Core Regtests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365760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3E50"/>
                </a:solidFill>
              </a:rPr>
              <a:t>●  basic_levelset       — level-set sphere advection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3E50"/>
                </a:solidFill>
              </a:rPr>
              <a:t>●  farsite_ellipse      — FARSITE elliptical expansion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3E50"/>
                </a:solidFill>
              </a:rPr>
              <a:t>●  rothermel_fuel       — Rothermel + fuel models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3E50"/>
                </a:solidFill>
              </a:rPr>
              <a:t>●  anderson_lw          — Anderson dynamic L/W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3E50"/>
                </a:solidFill>
              </a:rPr>
              <a:t>●  cheney_gould_grassfire— Cheney &amp; Gould (1995) grassland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3E50"/>
                </a:solidFill>
              </a:rPr>
              <a:t>●  catchpole_demestre   — double-ellipse shape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3E50"/>
                </a:solidFill>
              </a:rPr>
              <a:t>●  wilson_spread        — Wilson (1988) ellipse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3E50"/>
                </a:solidFill>
              </a:rPr>
              <a:t>●  alexander_lemniscate — Limaçon fire shape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3E50"/>
                </a:solidFill>
              </a:rPr>
              <a:t>●  landfire_farsite     — LANDFIRE landscape (Python3)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402336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2801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New Feature Regtests (2025)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27632"/>
            <a:ext cx="384048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2C3E50"/>
                </a:solidFill>
              </a:rPr>
              <a:t>●  fuel_adj_file              — .adj reader + adjuster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3E50"/>
                </a:solidFill>
              </a:rPr>
              <a:t>●  fmd_moisture               — .fmd time-varying moisture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3E50"/>
                </a:solidFill>
              </a:rPr>
              <a:t>●  fire_perimeter_output      — CSV+GeoJSON perimeter writers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3E50"/>
                </a:solidFill>
              </a:rPr>
              <a:t>●  fire_perimeter_output_validate — validates output files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3E50"/>
                </a:solidFill>
              </a:rPr>
              <a:t>●  burned_area_timeseries     — fire_stats.csv time series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3E50"/>
                </a:solidFill>
              </a:rPr>
              <a:t>●  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3E50"/>
                </a:solidFill>
              </a:rPr>
              <a:t>●  3d_sphere (3D build only)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3E50"/>
                </a:solidFill>
              </a:rPr>
              <a:t>●  terrain_wind (2D only)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2C3E50"/>
                </a:solidFill>
              </a:rPr>
              <a:t>●  time_dependent_wind (2D only)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188720"/>
            <a:ext cx="3474720" cy="5303520"/>
          </a:xfrm>
          <a:prstGeom prst="rect">
            <a:avLst/>
          </a:prstGeom>
          <a:solidFill>
            <a:srgbClr val="FDF6E3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2344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timing_benchmark  ★  (CTest label: benchmark)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481328"/>
            <a:ext cx="3291840" cy="491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Multi-resolution wall-clock benchmark:
  python3 run_benchmark.py --exe ./levelset \
      --dim 2 --nsteps 20 \
      --resolutions 32 64 128 256
Scenarios: levelset, farsite
Checks: monotone runtime, scaling exponent α ∈ [0.8D, 1.6D]
Output: timing_results.csv
CTest label: benchmark
  ctest -L benchmark --output-on-failure -V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Comparison with FARSITE and WRF-SFIRE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70432"/>
            <a:ext cx="3200400" cy="2697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79576"/>
            <a:ext cx="31089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502152" y="1170432"/>
            <a:ext cx="2834640" cy="2697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47872" y="1179576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Wildfire-AMR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9944" y="1170432"/>
            <a:ext cx="2834640" cy="2697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179576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FARSITE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17736" y="1170432"/>
            <a:ext cx="2834640" cy="2697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63456" y="1179576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WRF-SFIRE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440180"/>
            <a:ext cx="320040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449324"/>
            <a:ext cx="31089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Fire spread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2152" y="1440180"/>
            <a:ext cx="283464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449324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Rothermel+Balbi+C&amp;G
+elliptical FARSITE 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9944" y="1440180"/>
            <a:ext cx="283464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1449324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Rothermel+FARSITE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17736" y="1440180"/>
            <a:ext cx="283464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6" y="1449324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Rothermel (level-set)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1709928"/>
            <a:ext cx="320040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719072"/>
            <a:ext cx="31089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Wind coupling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02152" y="1709928"/>
            <a:ext cx="283464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7872" y="1719072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One-way (prescribed)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9944" y="1709928"/>
            <a:ext cx="283464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1719072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One-way (prescribed)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17736" y="1709928"/>
            <a:ext cx="283464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3456" y="1719072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Two-way (fire↔atmos)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1979676"/>
            <a:ext cx="320040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1988820"/>
            <a:ext cx="31089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Terrain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02152" y="1979676"/>
            <a:ext cx="283464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47872" y="1988820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Per-cell LCP: elev,
slope, aspect, fuel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9944" y="1979676"/>
            <a:ext cx="283464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1988820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Full 2D .lcp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17736" y="1979676"/>
            <a:ext cx="283464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63456" y="1988820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Full 3D WRF grid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2249424"/>
            <a:ext cx="320040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2258568"/>
            <a:ext cx="31089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Crown layers (spatial)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02152" y="2249424"/>
            <a:ext cx="283464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47872" y="2258568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AE60"/>
                </a:solidFill>
              </a:rPr>
              <a:t>✔ CBH/CBD/CC from binary LCP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9944" y="2249424"/>
            <a:ext cx="283464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55664" y="2258568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AE60"/>
                </a:solidFill>
              </a:rPr>
              <a:t>✔ from .lcp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17736" y="2249424"/>
            <a:ext cx="283464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63456" y="2258568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✘ not standard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2519172"/>
            <a:ext cx="320040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2528316"/>
            <a:ext cx="31089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Fuel adjustment (.adj)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02152" y="2519172"/>
            <a:ext cx="283464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47872" y="2528316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AE60"/>
                </a:solidFill>
              </a:rPr>
              <a:t>✔ fuel_adj_file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9944" y="2519172"/>
            <a:ext cx="283464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55664" y="2528316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AE60"/>
                </a:solidFill>
              </a:rPr>
              <a:t>✔ native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17736" y="2519172"/>
            <a:ext cx="283464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63456" y="2528316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2788920"/>
            <a:ext cx="320040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2798064"/>
            <a:ext cx="31089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Time-varying moisture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02152" y="2788920"/>
            <a:ext cx="283464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47872" y="2798064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AE60"/>
                </a:solidFill>
              </a:rPr>
              <a:t>✔ .fmd schedule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9944" y="2788920"/>
            <a:ext cx="283464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55664" y="2798064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AE60"/>
                </a:solidFill>
              </a:rPr>
              <a:t>✔ native .fmd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17736" y="2788920"/>
            <a:ext cx="283464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63456" y="2798064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AE60"/>
                </a:solidFill>
              </a:rPr>
              <a:t>✔ prescribed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" y="3058668"/>
            <a:ext cx="320040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3067812"/>
            <a:ext cx="31089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Perimeter CSV/GeoJSON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02152" y="3058668"/>
            <a:ext cx="283464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47872" y="3067812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AE60"/>
                </a:solidFill>
              </a:rPr>
              <a:t>✔ built-in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9944" y="3058668"/>
            <a:ext cx="283464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55664" y="3067812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AE60"/>
                </a:solidFill>
              </a:rPr>
              <a:t>✔ shapefiles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17736" y="3058668"/>
            <a:ext cx="283464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63456" y="3067812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NC (WRF output)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" y="3328416"/>
            <a:ext cx="320040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3337560"/>
            <a:ext cx="31089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GPU acceleration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02152" y="3328416"/>
            <a:ext cx="283464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47872" y="3337560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AE60"/>
                </a:solidFill>
              </a:rPr>
              <a:t>✔ CUDA/HIP/SYCL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9944" y="3328416"/>
            <a:ext cx="283464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55664" y="3337560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✘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17736" y="3328416"/>
            <a:ext cx="283464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63456" y="3337560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✘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3598164"/>
            <a:ext cx="320040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3607308"/>
            <a:ext cx="31089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MPI parallelism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502152" y="3598164"/>
            <a:ext cx="283464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547872" y="3607308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AE60"/>
                </a:solidFill>
              </a:rPr>
              <a:t>✔ AMReX DD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09944" y="3598164"/>
            <a:ext cx="283464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55664" y="3607308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✘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317736" y="3598164"/>
            <a:ext cx="283464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363456" y="3607308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AE60"/>
                </a:solidFill>
              </a:rPr>
              <a:t>✔ WRF MPI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" y="3867912"/>
            <a:ext cx="320040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4320" y="3877056"/>
            <a:ext cx="31089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Embedded boundaries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502152" y="3867912"/>
            <a:ext cx="283464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47872" y="3877056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AE60"/>
                </a:solidFill>
              </a:rPr>
              <a:t>✔ AMReX EB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09944" y="3867912"/>
            <a:ext cx="283464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55664" y="3877056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✘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317736" y="3867912"/>
            <a:ext cx="283464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363456" y="3877056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✘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28600" y="4137660"/>
            <a:ext cx="320040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74320" y="4146804"/>
            <a:ext cx="31089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Timing benchmark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502152" y="4137660"/>
            <a:ext cx="283464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47872" y="4146804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AE60"/>
                </a:solidFill>
              </a:rPr>
              <a:t>✔ CTest benchmark label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09944" y="4137660"/>
            <a:ext cx="283464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55664" y="4146804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✘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317736" y="4137660"/>
            <a:ext cx="2834640" cy="269748"/>
          </a:xfrm>
          <a:prstGeom prst="rect">
            <a:avLst/>
          </a:prstGeom>
          <a:solidFill>
            <a:srgbClr val="FFFFFF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63456" y="4146804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✘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28600" y="4407408"/>
            <a:ext cx="320040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74320" y="4416552"/>
            <a:ext cx="31089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Open source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502152" y="4407408"/>
            <a:ext cx="283464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547872" y="4416552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AE60"/>
                </a:solidFill>
              </a:rPr>
              <a:t>✔ (GitHub)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409944" y="4407408"/>
            <a:ext cx="283464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55664" y="4416552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✘ (US FS license)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317736" y="4407408"/>
            <a:ext cx="2834640" cy="269748"/>
          </a:xfrm>
          <a:prstGeom prst="rect">
            <a:avLst/>
          </a:prstGeom>
          <a:solidFill>
            <a:srgbClr val="ECF0F1"/>
          </a:solidFill>
          <a:ln w="3175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363456" y="4416552"/>
            <a:ext cx="2743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AE60"/>
                </a:solidFill>
              </a:rPr>
              <a:t>✔ (WRF license)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 &amp; 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3035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27632"/>
            <a:ext cx="51206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⚠  Fuel models: Anderson 13 + Scott &amp; Burgan 40 only;
  no custom dynamic fuel models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⚠  Fuel moisture: time-varying .fmd works; no transport PDE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⚠  Wind: spatial CSV or WRF; no fully 3D gridded field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⚠  Fire↔atmosphere: one-way by default (wind-terrain feedback available)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⚠  Crown fire: Van Wagner (1977) empirical only;
  no mechanistic spread model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⚠  Spotting: 2D trajectory; no 3D plume transport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⚠  Validation: limited against real fire events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⚠  Serial I/O paths (landscape, spotting) — GPU kernels for spread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88720"/>
            <a:ext cx="594360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2801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Potential 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627632"/>
            <a:ext cx="576072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980B9"/>
                </a:solidFill>
              </a:rPr>
              <a:t>→  Custom fuel model support (.flt lookup tables)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980B9"/>
                </a:solidFill>
              </a:rPr>
              <a:t>→  AMR (adaptive mesh refinement) near the fire front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980B9"/>
                </a:solidFill>
              </a:rPr>
              <a:t>→  Full 3D spatially-varying wind field input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980B9"/>
                </a:solidFill>
              </a:rPr>
              <a:t>→  Two-way fire-atmosphere coupling (WRF-AMR interface)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980B9"/>
                </a:solidFill>
              </a:rPr>
              <a:t>→  Ensemble / Monte Carlo runs with stochastic moisture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980B9"/>
                </a:solidFill>
              </a:rPr>
              <a:t>→  Live fuel moisture from satellite (NDVI → FMC)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980B9"/>
                </a:solidFill>
              </a:rPr>
              <a:t>→  Post-frontal smouldering and ember accumulation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980B9"/>
                </a:solidFill>
              </a:rPr>
              <a:t>→  Real-time assimilation of observed fire perimeters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980B9"/>
                </a:solidFill>
              </a:rPr>
              <a:t>→  Web dashboard for operational decision support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8463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27632"/>
            <a:ext cx="46634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✔  Open-source, AMReX-based level-set wildfire solver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✔  Multiple fire spread models: Rothermel, Balbi, Cheney-Gould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✔  FARSITE elliptical expansion on Eulerian grid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✔  Real landscape files: binary and ASCII .lcp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✔  Spatial crown layers CBH/CBD/CC from binary LCP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✔  Fuel adjustment .adj + time-varying .fmd moisture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✔  Fire perimeter CSV/GeoJSON + burned area time series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✔  Scott/Albini max spotting table by fuel model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✔  Multi-resolution timing benchmark (CTest)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✔  GPU-accelerated (CUDA/HIP/SYCL), MPI-parallel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2C3E50"/>
                </a:solidFill>
              </a:rPr>
              <a:t>✔  github.com/hgopalan/wildfire_levelset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188720"/>
            <a:ext cx="66751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55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40680" y="12344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Key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627632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Rothermel (1972). USDA For. Serv. Res. Pap. INT-115.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Finney (2004). FARSITE. USDA For. Serv. RP RMRS-RP-4.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Richards (1990). Int. J. Wildland Fire 1(2).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Balbi et al. (2009). Combust. Flame 156(12).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Van Wagner (1977). Can. J. For. Res. 7(1).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Albini (1979). USDA For. Serv. GTR INT-56.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Albini (1983). Combust. Sci. Tech. 32(1-4).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Andrews (2018). USDA For. Serv. RMRS-GTR-368.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Byram (1959). In: Forest fire control and use.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Viegas (2004). Int. J. Wildland Fire 13(2).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Scott &amp; Burgan (2005). USDA FS GTR RMRS-153.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Pimont et al. (2009). For. Ecol. Manage. 258(2).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Cheney &amp; Gould (1995). Int. J. Wildland Fire 5(4).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2C3E50"/>
                </a:solidFill>
              </a:rPr>
              <a:t>Zhang et al. (2020). AMReX. J. Open Source Softw.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