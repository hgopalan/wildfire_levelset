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Wildfire Level-Set Solver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286000"/>
            <a:ext cx="11274552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D166"/>
                </a:solidFill>
              </a:rPr>
              <a:t>AMReX-Powered Wildfire Spread Simulation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3383280"/>
            <a:ext cx="2148840" cy="502920"/>
          </a:xfrm>
          <a:prstGeom prst="rect">
            <a:avLst/>
          </a:prstGeom>
          <a:solidFill>
            <a:srgbClr val="FF6B35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38328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Level-Set / FARSITE</a:t>
            </a:r>
          </a:p>
        </p:txBody>
      </p:sp>
      <p:sp>
        <p:nvSpPr>
          <p:cNvPr id="8" name="Rectangle 7"/>
          <p:cNvSpPr/>
          <p:nvPr/>
        </p:nvSpPr>
        <p:spPr>
          <a:xfrm>
            <a:off x="2816352" y="3383280"/>
            <a:ext cx="2148840" cy="502920"/>
          </a:xfrm>
          <a:prstGeom prst="rect">
            <a:avLst/>
          </a:prstGeom>
          <a:solidFill>
            <a:srgbClr val="252545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16352" y="338328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Rothermel · Balbi · Cheney-Gould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9784" y="3383280"/>
            <a:ext cx="2148840" cy="502920"/>
          </a:xfrm>
          <a:prstGeom prst="rect">
            <a:avLst/>
          </a:prstGeom>
          <a:solidFill>
            <a:srgbClr val="252545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9784" y="338328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Crown Fire &amp; Spotting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43216" y="3383280"/>
            <a:ext cx="2148840" cy="502920"/>
          </a:xfrm>
          <a:prstGeom prst="rect">
            <a:avLst/>
          </a:prstGeom>
          <a:solidFill>
            <a:srgbClr val="4EC9B0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43216" y="338328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Mass-Consistent Wind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756648" y="3383280"/>
            <a:ext cx="2148840" cy="502920"/>
          </a:xfrm>
          <a:prstGeom prst="rect">
            <a:avLst/>
          </a:prstGeom>
          <a:solidFill>
            <a:srgbClr val="252545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56648" y="338328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AMReX MLMG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8D99AE"/>
                </a:solidFill>
              </a:rPr>
              <a:t>github.com/hgopalan/wildfire_levelset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4552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3383280" cy="4663440"/>
          </a:xfrm>
          <a:prstGeom prst="rect">
            <a:avLst/>
          </a:prstGeom>
          <a:solidFill>
            <a:srgbClr val="252545"/>
          </a:solidFill>
          <a:ln w="19050">
            <a:solidFill>
              <a:srgbClr val="8D99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D166"/>
                </a:solidFill>
              </a:rPr>
              <a:t>INPUTS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9202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• Terrain / DEM (X Y Z)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4231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• Landscape file (.lcp)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9260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• Fuel model (FBFM13/40)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4290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• Weather &amp; wind field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9319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• Ignition geometry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31920" y="1371600"/>
            <a:ext cx="4297680" cy="4663440"/>
          </a:xfrm>
          <a:prstGeom prst="rect">
            <a:avLst/>
          </a:prstGeom>
          <a:solidFill>
            <a:srgbClr val="252545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69080" y="14630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D166"/>
                </a:solidFill>
              </a:rPr>
              <a:t>CORE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69080" y="192024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6B35"/>
                </a:solidFill>
              </a:rPr>
              <a:t>Fire Spread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69080" y="2176272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D99AE"/>
                </a:solidFill>
              </a:rPr>
              <a:t>Rothermel · Balbi · Cheney-Gould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9080" y="2578608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6B35"/>
                </a:solidFill>
              </a:rPr>
              <a:t>Propagation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69080" y="283464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D99AE"/>
                </a:solidFill>
              </a:rPr>
              <a:t>Level-Set (WENO5+RK3) · FARSITE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69080" y="3236976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6B35"/>
                </a:solidFill>
              </a:rPr>
              <a:t>Crown Fire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69080" y="3493008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D99AE"/>
                </a:solidFill>
              </a:rPr>
              <a:t>Van Wagner criterion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69080" y="3895344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6B35"/>
                </a:solidFill>
              </a:rPr>
              <a:t>Spotting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69080" y="4151376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D99AE"/>
                </a:solidFill>
              </a:rPr>
              <a:t>Stochastic · Albini physics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69080" y="4553712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6B35"/>
                </a:solidFill>
              </a:rPr>
              <a:t>Wind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69080" y="4809744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D99AE"/>
                </a:solidFill>
              </a:rPr>
              <a:t>Mass-consistent MLMG Poisson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03920" y="1371600"/>
            <a:ext cx="3383280" cy="4663440"/>
          </a:xfrm>
          <a:prstGeom prst="rect">
            <a:avLst/>
          </a:prstGeom>
          <a:solidFill>
            <a:srgbClr val="252545"/>
          </a:solidFill>
          <a:ln w="19050">
            <a:solidFill>
              <a:srgbClr val="8D99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41080" y="14630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D166"/>
                </a:solidFill>
              </a:rPr>
              <a:t>OUTPUTS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41080" y="19202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• AMReX plotfiles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41080" y="24231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• Fire perimeter CSV / GeoJSON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41080" y="29260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• Intensity &amp; flame length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41080" y="34290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• Wind field (u v w)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41080" y="39319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• Terrain-aligned CSV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703320" y="3474720"/>
            <a:ext cx="228600" cy="10972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75320" y="3474720"/>
            <a:ext cx="228600" cy="10972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Fire Spread Physics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4552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3474720" cy="3017520"/>
          </a:xfrm>
          <a:prstGeom prst="rect">
            <a:avLst/>
          </a:prstGeom>
          <a:solidFill>
            <a:srgbClr val="252545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D166"/>
                </a:solidFill>
              </a:rPr>
              <a:t>Rothermel 1972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874520"/>
            <a:ext cx="320040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Surface fire rate-of-spread
Fuel loading · moisture · wind
Slope correction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931920" y="1371600"/>
            <a:ext cx="3474720" cy="3017520"/>
          </a:xfrm>
          <a:prstGeom prst="rect">
            <a:avLst/>
          </a:prstGeom>
          <a:solidFill>
            <a:srgbClr val="252545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69080" y="14630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D166"/>
                </a:solidFill>
              </a:rPr>
              <a:t>Balbi 2009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69080" y="1874520"/>
            <a:ext cx="320040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Radiative-convective physics
Flame tilt &amp; depth coupling
Live / dead fuel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89520" y="1371600"/>
            <a:ext cx="3474720" cy="3017520"/>
          </a:xfrm>
          <a:prstGeom prst="rect">
            <a:avLst/>
          </a:prstGeom>
          <a:solidFill>
            <a:srgbClr val="252545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80" y="14630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D166"/>
                </a:solidFill>
              </a:rPr>
              <a:t>Cheney-Gould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80" y="1874520"/>
            <a:ext cx="320040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Grass fire empirical model
Curing fraction effect
Fast-running surrogate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572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D166"/>
                </a:solidFill>
              </a:rPr>
              <a:t>Propagation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5029200"/>
            <a:ext cx="3931920" cy="594360"/>
          </a:xfrm>
          <a:prstGeom prst="rect">
            <a:avLst/>
          </a:prstGeom>
          <a:solidFill>
            <a:srgbClr val="FF6B35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5029200"/>
            <a:ext cx="3931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Level-Set  (WENO5-Z + RK3)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9120" y="5029200"/>
            <a:ext cx="3931920" cy="594360"/>
          </a:xfrm>
          <a:prstGeom prst="rect">
            <a:avLst/>
          </a:prstGeom>
          <a:solidFill>
            <a:srgbClr val="252545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5029200"/>
            <a:ext cx="3931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FARSITE Elliptical Huygens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5029200"/>
            <a:ext cx="3931920" cy="594360"/>
          </a:xfrm>
          <a:prstGeom prst="rect">
            <a:avLst/>
          </a:prstGeom>
          <a:solidFill>
            <a:srgbClr val="252545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0" y="5029200"/>
            <a:ext cx="3931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Anderson Dynamic L/W Ratio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Sub-Models &amp; Physics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4552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1371600"/>
            <a:ext cx="3657600" cy="2286000"/>
          </a:xfrm>
          <a:prstGeom prst="rect">
            <a:avLst/>
          </a:prstGeom>
          <a:solidFill>
            <a:srgbClr val="252545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6304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D166"/>
                </a:solidFill>
              </a:rPr>
              <a:t>👑 Crown Fire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874520"/>
            <a:ext cx="33832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Van Wagner (1977)
CBH · CBD · FMC thresholds
Torching initiation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023360" y="1371600"/>
            <a:ext cx="3657600" cy="2286000"/>
          </a:xfrm>
          <a:prstGeom prst="rect">
            <a:avLst/>
          </a:prstGeom>
          <a:solidFill>
            <a:srgbClr val="252545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60520" y="146304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D166"/>
                </a:solidFill>
              </a:rPr>
              <a:t>🔥 Spotting — Stochastic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1874520"/>
            <a:ext cx="33832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Firebrand generation
Lognormal / Exponential
distance distribution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18120" y="1371600"/>
            <a:ext cx="3657600" cy="2286000"/>
          </a:xfrm>
          <a:prstGeom prst="rect">
            <a:avLst/>
          </a:prstGeom>
          <a:solidFill>
            <a:srgbClr val="252545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0" y="146304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D166"/>
                </a:solidFill>
              </a:rPr>
              <a:t>🌊 Spotting — Albini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0" y="1874520"/>
            <a:ext cx="33832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Thermal-plume lofting
2-D trajectory integration
Physics-based range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3840480"/>
            <a:ext cx="3657600" cy="2286000"/>
          </a:xfrm>
          <a:prstGeom prst="rect">
            <a:avLst/>
          </a:prstGeom>
          <a:solidFill>
            <a:srgbClr val="252545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9319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D166"/>
                </a:solidFill>
              </a:rPr>
              <a:t>📊 Fuel Consumption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343400"/>
            <a:ext cx="33832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Post-frontal burnout
Residence-time model
Bulk fraction depleted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23360" y="3840480"/>
            <a:ext cx="3657600" cy="2286000"/>
          </a:xfrm>
          <a:prstGeom prst="rect">
            <a:avLst/>
          </a:prstGeom>
          <a:solidFill>
            <a:srgbClr val="252545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60520" y="39319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D166"/>
                </a:solidFill>
              </a:rPr>
              <a:t>🌡 Fire Diagnostics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60520" y="4343400"/>
            <a:ext cx="33832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Byram fireline intensity
Flame length at every step
CSV / GeoJSON perimeter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18120" y="3840480"/>
            <a:ext cx="3657600" cy="2286000"/>
          </a:xfrm>
          <a:prstGeom prst="rect">
            <a:avLst/>
          </a:prstGeom>
          <a:solidFill>
            <a:srgbClr val="252545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55280" y="39319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D166"/>
                </a:solidFill>
              </a:rPr>
              <a:t>💨 Wind Adjustment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80" y="4343400"/>
            <a:ext cx="33832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Wind Adjustment Factor
Max effective wind limit
Andrews (2018)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Terrain-Following Wind Solver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4552" cy="36576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76072" y="1371600"/>
            <a:ext cx="402336" cy="402336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D166"/>
                </a:solidFill>
              </a:rPr>
              <a:t>1  Read terrain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71907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D99AE"/>
                </a:solidFill>
              </a:rPr>
              <a:t>X Y Z point cloud → IDW interpolation</a:t>
            </a:r>
          </a:p>
        </p:txBody>
      </p:sp>
      <p:sp>
        <p:nvSpPr>
          <p:cNvPr id="8" name="Oval 7"/>
          <p:cNvSpPr/>
          <p:nvPr/>
        </p:nvSpPr>
        <p:spPr>
          <a:xfrm>
            <a:off x="576072" y="2240280"/>
            <a:ext cx="402336" cy="402336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240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D166"/>
                </a:solidFill>
              </a:rPr>
              <a:t>2  Log-law profile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58775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D99AE"/>
                </a:solidFill>
              </a:rPr>
              <a:t>u(z_agl) = (u*/κ) ln((z + z₀)/z₀)</a:t>
            </a:r>
          </a:p>
        </p:txBody>
      </p:sp>
      <p:sp>
        <p:nvSpPr>
          <p:cNvPr id="11" name="Oval 10"/>
          <p:cNvSpPr/>
          <p:nvPr/>
        </p:nvSpPr>
        <p:spPr>
          <a:xfrm>
            <a:off x="576072" y="3108960"/>
            <a:ext cx="402336" cy="402336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108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D166"/>
                </a:solidFill>
              </a:rPr>
              <a:t>3  Poisson solve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45643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D99AE"/>
                </a:solidFill>
              </a:rPr>
              <a:t>AMReX MLMG · MLABecLaplacian · level-0</a:t>
            </a:r>
          </a:p>
        </p:txBody>
      </p:sp>
      <p:sp>
        <p:nvSpPr>
          <p:cNvPr id="14" name="Oval 13"/>
          <p:cNvSpPr/>
          <p:nvPr/>
        </p:nvSpPr>
        <p:spPr>
          <a:xfrm>
            <a:off x="576072" y="3977640"/>
            <a:ext cx="402336" cy="402336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977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D166"/>
                </a:solidFill>
              </a:rPr>
              <a:t>4  Mass-consistent 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32511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D99AE"/>
                </a:solidFill>
              </a:rPr>
              <a:t>u = u₀ − α_h² ∇_h λ   w = w₀ − α_v² ∂λ/∂z</a:t>
            </a:r>
          </a:p>
        </p:txBody>
      </p:sp>
      <p:sp>
        <p:nvSpPr>
          <p:cNvPr id="17" name="Oval 16"/>
          <p:cNvSpPr/>
          <p:nvPr/>
        </p:nvSpPr>
        <p:spPr>
          <a:xfrm>
            <a:off x="576072" y="4846320"/>
            <a:ext cx="402336" cy="402336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846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D166"/>
                </a:solidFill>
              </a:rPr>
              <a:t>5  Extract &amp;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519379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D99AE"/>
                </a:solidFill>
              </a:rPr>
              <a:t>Plotfile + terrain-aligned CSV slice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0" y="1371600"/>
            <a:ext cx="5303520" cy="5029200"/>
          </a:xfrm>
          <a:prstGeom prst="rect">
            <a:avLst/>
          </a:prstGeom>
          <a:solidFill>
            <a:srgbClr val="252545"/>
          </a:solidFill>
          <a:ln w="19050">
            <a:solidFill>
              <a:srgbClr val="4E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14630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4EC9B0"/>
                </a:solidFill>
              </a:rPr>
              <a:t>Key Features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20116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✦  Stand-alone executable (wind_solver)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25146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✦  Anisotropic Poisson:  α_h ≠ α_v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30175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✦  QUIC-URB style Lagrange multiplier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35204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✦  dx / dy / dz user-specified (default 30 m)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40233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✦  Vertical domain: 0 → 300 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45262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✦  Always 3-D, even in 2-D levelset builds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50292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✦  Terrain-aligned CSV extraction (extract_agl)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55321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✦  MPI + GPU portable (AMReX backend)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Terrain-Aligned Wind Extraction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4552" cy="36576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5029200"/>
            <a:ext cx="7772400" cy="3200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5074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</a:rPr>
              <a:t>Terrain surface  z_s(x, y)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4892040"/>
            <a:ext cx="649224" cy="137160"/>
          </a:xfrm>
          <a:prstGeom prst="rect">
            <a:avLst/>
          </a:prstGeom>
          <a:solidFill>
            <a:srgbClr val="5C4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33272" y="4754880"/>
            <a:ext cx="649224" cy="274320"/>
          </a:xfrm>
          <a:prstGeom prst="rect">
            <a:avLst/>
          </a:prstGeom>
          <a:solidFill>
            <a:srgbClr val="5C4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700784" y="4526280"/>
            <a:ext cx="649224" cy="502920"/>
          </a:xfrm>
          <a:prstGeom prst="rect">
            <a:avLst/>
          </a:prstGeom>
          <a:solidFill>
            <a:srgbClr val="5C4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368296" y="4251960"/>
            <a:ext cx="649224" cy="777240"/>
          </a:xfrm>
          <a:prstGeom prst="rect">
            <a:avLst/>
          </a:prstGeom>
          <a:solidFill>
            <a:srgbClr val="5C4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035808" y="4069080"/>
            <a:ext cx="649224" cy="960120"/>
          </a:xfrm>
          <a:prstGeom prst="rect">
            <a:avLst/>
          </a:prstGeom>
          <a:solidFill>
            <a:srgbClr val="5C4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703320" y="3977640"/>
            <a:ext cx="649224" cy="1051560"/>
          </a:xfrm>
          <a:prstGeom prst="rect">
            <a:avLst/>
          </a:prstGeom>
          <a:solidFill>
            <a:srgbClr val="5C4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0832" y="4069080"/>
            <a:ext cx="649224" cy="960120"/>
          </a:xfrm>
          <a:prstGeom prst="rect">
            <a:avLst/>
          </a:prstGeom>
          <a:solidFill>
            <a:srgbClr val="5C4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38344" y="4251960"/>
            <a:ext cx="649224" cy="777240"/>
          </a:xfrm>
          <a:prstGeom prst="rect">
            <a:avLst/>
          </a:prstGeom>
          <a:solidFill>
            <a:srgbClr val="5C4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05856" y="4526280"/>
            <a:ext cx="649224" cy="502920"/>
          </a:xfrm>
          <a:prstGeom prst="rect">
            <a:avLst/>
          </a:prstGeom>
          <a:solidFill>
            <a:srgbClr val="5C4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73368" y="4754880"/>
            <a:ext cx="649224" cy="274320"/>
          </a:xfrm>
          <a:prstGeom prst="rect">
            <a:avLst/>
          </a:prstGeom>
          <a:solidFill>
            <a:srgbClr val="5C4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040880" y="4892040"/>
            <a:ext cx="649224" cy="137160"/>
          </a:xfrm>
          <a:prstGeom prst="rect">
            <a:avLst/>
          </a:prstGeom>
          <a:solidFill>
            <a:srgbClr val="5C4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840480"/>
            <a:ext cx="7772400" cy="36576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4290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EC9B0"/>
                </a:solidFill>
              </a:rPr>
              <a:t>Extraction surface   z_physical = z_terrain + z_agl</a:t>
            </a:r>
          </a:p>
        </p:txBody>
      </p:sp>
      <p:sp>
        <p:nvSpPr>
          <p:cNvPr id="20" name="Oval 19"/>
          <p:cNvSpPr/>
          <p:nvPr/>
        </p:nvSpPr>
        <p:spPr>
          <a:xfrm>
            <a:off x="608076" y="3749040"/>
            <a:ext cx="182880" cy="182880"/>
          </a:xfrm>
          <a:prstGeom prst="ellipse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275588" y="3749040"/>
            <a:ext cx="182880" cy="182880"/>
          </a:xfrm>
          <a:prstGeom prst="ellipse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943100" y="3749040"/>
            <a:ext cx="182880" cy="182880"/>
          </a:xfrm>
          <a:prstGeom prst="ellipse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610612" y="3749040"/>
            <a:ext cx="182880" cy="182880"/>
          </a:xfrm>
          <a:prstGeom prst="ellipse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278124" y="3749040"/>
            <a:ext cx="182880" cy="182880"/>
          </a:xfrm>
          <a:prstGeom prst="ellipse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945636" y="3749040"/>
            <a:ext cx="182880" cy="182880"/>
          </a:xfrm>
          <a:prstGeom prst="ellipse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613148" y="3749040"/>
            <a:ext cx="182880" cy="182880"/>
          </a:xfrm>
          <a:prstGeom prst="ellipse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280660" y="3749040"/>
            <a:ext cx="182880" cy="182880"/>
          </a:xfrm>
          <a:prstGeom prst="ellipse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948172" y="3749040"/>
            <a:ext cx="182880" cy="182880"/>
          </a:xfrm>
          <a:prstGeom prst="ellipse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615684" y="3749040"/>
            <a:ext cx="182880" cy="182880"/>
          </a:xfrm>
          <a:prstGeom prst="ellipse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283196" y="3749040"/>
            <a:ext cx="182880" cy="182880"/>
          </a:xfrm>
          <a:prstGeom prst="ellipse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97280" y="3886200"/>
            <a:ext cx="27432" cy="1097280"/>
          </a:xfrm>
          <a:prstGeom prst="rect">
            <a:avLst/>
          </a:prstGeom>
          <a:solidFill>
            <a:srgbClr val="8D99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70432" y="4114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D99AE"/>
                </a:solidFill>
              </a:rPr>
              <a:t>z_agl (const.)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321040" y="1371600"/>
            <a:ext cx="3657600" cy="2468880"/>
          </a:xfrm>
          <a:prstGeom prst="rect">
            <a:avLst/>
          </a:prstGeom>
          <a:solidFill>
            <a:srgbClr val="252545"/>
          </a:solidFill>
          <a:ln w="19050">
            <a:solidFill>
              <a:srgbClr val="4E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58200" y="146304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EC9B0"/>
                </a:solidFill>
              </a:rPr>
              <a:t>ParmParse Options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58200" y="192024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D166"/>
                </a:solidFill>
              </a:rPr>
              <a:t># By AGL height (metres):
extract_agl  = 15.0
# By k-index:
extract_k    = 0
# Output file:
extract_file = wind_extract.csv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21040" y="3977639"/>
            <a:ext cx="3657600" cy="2468880"/>
          </a:xfrm>
          <a:prstGeom prst="rect">
            <a:avLst/>
          </a:prstGeom>
          <a:solidFill>
            <a:srgbClr val="252545"/>
          </a:solidFill>
          <a:ln w="19050">
            <a:solidFill>
              <a:srgbClr val="8D99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58200" y="40690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D99AE"/>
                </a:solidFill>
              </a:rPr>
              <a:t>CSV Columns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58200" y="448056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x  ·  y  ·  z_terrain
z_physical  ·  z_agl
u  ·  v  ·  w  ·  speed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Fuel Models &amp; Landscape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4552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5394960" cy="4389120"/>
          </a:xfrm>
          <a:prstGeom prst="rect">
            <a:avLst/>
          </a:prstGeom>
          <a:solidFill>
            <a:srgbClr val="252545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D166"/>
                </a:solidFill>
              </a:rPr>
              <a:t>Anderson 13 (FBFM13)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874520"/>
            <a:ext cx="512064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FM1 – FM13 standard fuel classes
• Short grass  · Timber litter
• Chaparral  · Slash
• Per-class moisture (1hr/10hr/100hr,
  live herbaceous, live woody)
Wind Adjustment Factor (WAF)
Max Effective Wind Speed (MEWS)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1371600"/>
            <a:ext cx="5394960" cy="4389120"/>
          </a:xfrm>
          <a:prstGeom prst="rect">
            <a:avLst/>
          </a:prstGeom>
          <a:solidFill>
            <a:srgbClr val="252545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72200" y="146304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D166"/>
                </a:solidFill>
              </a:rPr>
              <a:t>Scott &amp; Burgan 40 (FBFM40)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1874520"/>
            <a:ext cx="512064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GR · GS · SH · TU · TL · SB classes
• Grass  · Grass-Shrub
• Shrub  · Timber Understory
• Timber Litter  · Slash-Blowdown
LANDFIRE landscape file (.lcp) support
Per-cell spatial fuel variation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HPC Backend — AMReX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4552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3566160" cy="2194560"/>
          </a:xfrm>
          <a:prstGeom prst="rect">
            <a:avLst/>
          </a:prstGeom>
          <a:solidFill>
            <a:srgbClr val="252545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D166"/>
                </a:solidFill>
              </a:rPr>
              <a:t>Block-Structured AMR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874520"/>
            <a:ext cx="32918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Adaptive mesh refinement
Focus resolution on fire front</a:t>
            </a:r>
          </a:p>
        </p:txBody>
      </p:sp>
      <p:sp>
        <p:nvSpPr>
          <p:cNvPr id="8" name="Rectangle 7"/>
          <p:cNvSpPr/>
          <p:nvPr/>
        </p:nvSpPr>
        <p:spPr>
          <a:xfrm>
            <a:off x="4023360" y="1371600"/>
            <a:ext cx="3566160" cy="2194560"/>
          </a:xfrm>
          <a:prstGeom prst="rect">
            <a:avLst/>
          </a:prstGeom>
          <a:solidFill>
            <a:srgbClr val="252545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60520" y="14630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D166"/>
                </a:solidFill>
              </a:rPr>
              <a:t>MPI Parallelism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1874520"/>
            <a:ext cx="32918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Domain decomposition
Scales to HPC clusters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0" y="1371600"/>
            <a:ext cx="3566160" cy="2194560"/>
          </a:xfrm>
          <a:prstGeom prst="rect">
            <a:avLst/>
          </a:prstGeom>
          <a:solidFill>
            <a:srgbClr val="252545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14630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D166"/>
                </a:solidFill>
              </a:rPr>
              <a:t>GPU Acceleration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1874520"/>
            <a:ext cx="32918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CUDA · HIP · SYCL backends
AMReX GPU-portable kernels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749040"/>
            <a:ext cx="3566160" cy="2194560"/>
          </a:xfrm>
          <a:prstGeom prst="rect">
            <a:avLst/>
          </a:prstGeom>
          <a:solidFill>
            <a:srgbClr val="252545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38404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D166"/>
                </a:solidFill>
              </a:rPr>
              <a:t>MLMG Linear Solver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4251960"/>
            <a:ext cx="32918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Multilevel multigrid
MLABecLaplacian for wind Poisson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23360" y="3749040"/>
            <a:ext cx="3566160" cy="2194560"/>
          </a:xfrm>
          <a:prstGeom prst="rect">
            <a:avLst/>
          </a:prstGeom>
          <a:solidFill>
            <a:srgbClr val="252545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60520" y="38404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D166"/>
                </a:solidFill>
              </a:rPr>
              <a:t>2D / 3D Flexible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60520" y="4251960"/>
            <a:ext cx="32918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2-D for fast runs
3-D for full terrain physics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0" y="3749040"/>
            <a:ext cx="3566160" cy="2194560"/>
          </a:xfrm>
          <a:prstGeom prst="rect">
            <a:avLst/>
          </a:prstGeom>
          <a:solidFill>
            <a:srgbClr val="252545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09560" y="38404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D166"/>
                </a:solidFill>
              </a:rPr>
              <a:t>Embedded Boundaries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09560" y="4251960"/>
            <a:ext cx="32918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Complex geometry
EB-aware stencils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Regression Tests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4552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3474720" cy="594360"/>
          </a:xfrm>
          <a:prstGeom prst="rect">
            <a:avLst/>
          </a:prstGeom>
          <a:solidFill>
            <a:srgbClr val="252545"/>
          </a:solidFill>
          <a:ln w="19050">
            <a:solidFill>
              <a:srgbClr val="8D99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41732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</a:rPr>
              <a:t>basic_levelset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1920" y="1417320"/>
            <a:ext cx="3474720" cy="594360"/>
          </a:xfrm>
          <a:prstGeom prst="rect">
            <a:avLst/>
          </a:prstGeom>
          <a:solidFill>
            <a:srgbClr val="252545"/>
          </a:solidFill>
          <a:ln w="19050">
            <a:solidFill>
              <a:srgbClr val="8D99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31920" y="141732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</a:rPr>
              <a:t>farsite_ellipse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417320"/>
            <a:ext cx="3474720" cy="594360"/>
          </a:xfrm>
          <a:prstGeom prst="rect">
            <a:avLst/>
          </a:prstGeom>
          <a:solidFill>
            <a:srgbClr val="252545"/>
          </a:solidFill>
          <a:ln w="19050">
            <a:solidFill>
              <a:srgbClr val="8D99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0" y="141732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</a:rPr>
              <a:t>rothermel_fuel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148840"/>
            <a:ext cx="3474720" cy="594360"/>
          </a:xfrm>
          <a:prstGeom prst="rect">
            <a:avLst/>
          </a:prstGeom>
          <a:solidFill>
            <a:srgbClr val="252545"/>
          </a:solidFill>
          <a:ln w="19050">
            <a:solidFill>
              <a:srgbClr val="8D99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214884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</a:rPr>
              <a:t>terrain_wind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31920" y="2148840"/>
            <a:ext cx="3474720" cy="594360"/>
          </a:xfrm>
          <a:prstGeom prst="rect">
            <a:avLst/>
          </a:prstGeom>
          <a:solidFill>
            <a:srgbClr val="252545"/>
          </a:solidFill>
          <a:ln w="19050">
            <a:solidFill>
              <a:srgbClr val="8D99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31920" y="214884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</a:rPr>
              <a:t>crown_fire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89520" y="2148840"/>
            <a:ext cx="3474720" cy="594360"/>
          </a:xfrm>
          <a:prstGeom prst="rect">
            <a:avLst/>
          </a:prstGeom>
          <a:solidFill>
            <a:srgbClr val="252545"/>
          </a:solidFill>
          <a:ln w="19050">
            <a:solidFill>
              <a:srgbClr val="8D99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0" y="214884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</a:rPr>
              <a:t>albini_spotting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880360"/>
            <a:ext cx="3474720" cy="594360"/>
          </a:xfrm>
          <a:prstGeom prst="rect">
            <a:avLst/>
          </a:prstGeom>
          <a:solidFill>
            <a:srgbClr val="252545"/>
          </a:solidFill>
          <a:ln w="19050">
            <a:solidFill>
              <a:srgbClr val="8D99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288036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</a:rPr>
              <a:t>eb_implicit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31920" y="2880360"/>
            <a:ext cx="3474720" cy="594360"/>
          </a:xfrm>
          <a:prstGeom prst="rect">
            <a:avLst/>
          </a:prstGeom>
          <a:solidFill>
            <a:srgbClr val="252545"/>
          </a:solidFill>
          <a:ln w="19050">
            <a:solidFill>
              <a:srgbClr val="8D99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31920" y="288036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</a:rPr>
              <a:t>landfire_farsite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89520" y="2880360"/>
            <a:ext cx="3474720" cy="594360"/>
          </a:xfrm>
          <a:prstGeom prst="rect">
            <a:avLst/>
          </a:prstGeom>
          <a:solidFill>
            <a:srgbClr val="1A3A3A"/>
          </a:solidFill>
          <a:ln w="19050">
            <a:solidFill>
              <a:srgbClr val="4E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20" y="288036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gaussian_hill_wind_solver  ★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5029200"/>
            <a:ext cx="11612880" cy="822960"/>
          </a:xfrm>
          <a:prstGeom prst="rect">
            <a:avLst/>
          </a:prstGeom>
          <a:solidFill>
            <a:srgbClr val="252545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502920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D166"/>
                </a:solidFill>
              </a:rPr>
              <a:t>ctest -L regtest  ·  ctest -L wind_solver  ·  ctest -R gaussian_hill_wind_solver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6126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EC9B0"/>
                </a:solidFill>
              </a:rPr>
              <a:t>★ new wind_solver regtest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Python Tools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4552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5486400" cy="566928"/>
          </a:xfrm>
          <a:prstGeom prst="rect">
            <a:avLst/>
          </a:prstGeom>
          <a:solidFill>
            <a:srgbClr val="252545"/>
          </a:solidFill>
          <a:ln w="19050">
            <a:solidFill>
              <a:srgbClr val="8D99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1453896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166"/>
                </a:solidFill>
              </a:rPr>
              <a:t>srtm_terrain_reader.py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69164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Download &amp; process SRTM DEM → terrain.csv</a:t>
            </a:r>
          </a:p>
        </p:txBody>
      </p:sp>
      <p:sp>
        <p:nvSpPr>
          <p:cNvPr id="8" name="Rectangle 7"/>
          <p:cNvSpPr/>
          <p:nvPr/>
        </p:nvSpPr>
        <p:spPr>
          <a:xfrm>
            <a:off x="5989320" y="1417320"/>
            <a:ext cx="5486400" cy="566928"/>
          </a:xfrm>
          <a:prstGeom prst="rect">
            <a:avLst/>
          </a:prstGeom>
          <a:solidFill>
            <a:srgbClr val="252545"/>
          </a:solidFill>
          <a:ln w="19050">
            <a:solidFill>
              <a:srgbClr val="8D99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9048" y="1453896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166"/>
                </a:solidFill>
              </a:rPr>
              <a:t>wrf_wind_reader.py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8" y="169164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Extract WRF wind field → velocity CSV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075688"/>
            <a:ext cx="5486400" cy="566928"/>
          </a:xfrm>
          <a:prstGeom prst="rect">
            <a:avLst/>
          </a:prstGeom>
          <a:solidFill>
            <a:srgbClr val="252545"/>
          </a:solidFill>
          <a:ln w="19050">
            <a:solidFill>
              <a:srgbClr val="8D99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2112264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166"/>
                </a:solidFill>
              </a:rPr>
              <a:t>plotfile_to_geotiff.py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235000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AMReX plotfile → GeoTIFF (GIS ready)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89320" y="2075688"/>
            <a:ext cx="5486400" cy="566928"/>
          </a:xfrm>
          <a:prstGeom prst="rect">
            <a:avLst/>
          </a:prstGeom>
          <a:solidFill>
            <a:srgbClr val="252545"/>
          </a:solidFill>
          <a:ln w="19050">
            <a:solidFill>
              <a:srgbClr val="8D99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99048" y="2112264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166"/>
                </a:solidFill>
              </a:rPr>
              <a:t>farsite_fmd_reader.py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9048" y="235000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Parse FARSITE .fmd fuel moisture schedule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734056"/>
            <a:ext cx="5486400" cy="566928"/>
          </a:xfrm>
          <a:prstGeom prst="rect">
            <a:avLst/>
          </a:prstGeom>
          <a:solidFill>
            <a:srgbClr val="252545"/>
          </a:solidFill>
          <a:ln w="19050">
            <a:solidFill>
              <a:srgbClr val="8D99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277063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166"/>
                </a:solidFill>
              </a:rPr>
              <a:t>farsite_fms_reader.py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" y="3008376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Read FARSITE .fms weather stream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89320" y="2734056"/>
            <a:ext cx="5486400" cy="566928"/>
          </a:xfrm>
          <a:prstGeom prst="rect">
            <a:avLst/>
          </a:prstGeom>
          <a:solidFill>
            <a:srgbClr val="252545"/>
          </a:solidFill>
          <a:ln w="19050">
            <a:solidFill>
              <a:srgbClr val="8D99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8" y="277063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166"/>
                </a:solidFill>
              </a:rPr>
              <a:t>landscape_writer.py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9048" y="3008376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Write FARSITE .lcp landscape files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392424"/>
            <a:ext cx="5486400" cy="566928"/>
          </a:xfrm>
          <a:prstGeom prst="rect">
            <a:avLst/>
          </a:prstGeom>
          <a:solidFill>
            <a:srgbClr val="252545"/>
          </a:solidFill>
          <a:ln w="19050">
            <a:solidFill>
              <a:srgbClr val="8D99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" y="342900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166"/>
                </a:solidFill>
              </a:rPr>
              <a:t>utm_convert.py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" y="3666744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UTM ↔ lat/lon coordinate conversion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89320" y="3392424"/>
            <a:ext cx="5486400" cy="566928"/>
          </a:xfrm>
          <a:prstGeom prst="rect">
            <a:avLst/>
          </a:prstGeom>
          <a:solidFill>
            <a:srgbClr val="1A3A3A"/>
          </a:solidFill>
          <a:ln w="19050">
            <a:solidFill>
              <a:srgbClr val="4E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99048" y="342900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EC9B0"/>
                </a:solidFill>
              </a:rPr>
              <a:t>generate_terrain.py 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99048" y="3666744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Generate Gaussian hill terrain for regtest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6126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EC9B0"/>
                </a:solidFill>
              </a:rPr>
              <a:t>★ new in this release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Quick Start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4552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2708" y="1344168"/>
            <a:ext cx="512064" cy="512064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2708" y="1399032"/>
            <a:ext cx="51206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920240"/>
            <a:ext cx="2148840" cy="2286000"/>
          </a:xfrm>
          <a:prstGeom prst="rect">
            <a:avLst/>
          </a:prstGeom>
          <a:solidFill>
            <a:srgbClr val="252545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96596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D166"/>
                </a:solidFill>
              </a:rPr>
              <a:t>Clone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423160"/>
            <a:ext cx="1965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D166"/>
                </a:solidFill>
              </a:rPr>
              <a:t>git clone --recurse-submodules
  https://github.com/hgopalan/wildfire_levelset.git</a:t>
            </a:r>
          </a:p>
        </p:txBody>
      </p:sp>
      <p:sp>
        <p:nvSpPr>
          <p:cNvPr id="10" name="Oval 9"/>
          <p:cNvSpPr/>
          <p:nvPr/>
        </p:nvSpPr>
        <p:spPr>
          <a:xfrm>
            <a:off x="3378708" y="1344168"/>
            <a:ext cx="512064" cy="512064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78708" y="1399032"/>
            <a:ext cx="51206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0" y="1920240"/>
            <a:ext cx="2148840" cy="2286000"/>
          </a:xfrm>
          <a:prstGeom prst="rect">
            <a:avLst/>
          </a:prstGeom>
          <a:solidFill>
            <a:srgbClr val="252545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0320" y="196596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D166"/>
                </a:solidFill>
              </a:rPr>
              <a:t>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2423160"/>
            <a:ext cx="1965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D166"/>
                </a:solidFill>
              </a:rPr>
              <a:t>cmake -S . -B build
cmake --build build -j</a:t>
            </a:r>
          </a:p>
        </p:txBody>
      </p:sp>
      <p:sp>
        <p:nvSpPr>
          <p:cNvPr id="15" name="Oval 14"/>
          <p:cNvSpPr/>
          <p:nvPr/>
        </p:nvSpPr>
        <p:spPr>
          <a:xfrm>
            <a:off x="5664708" y="1344168"/>
            <a:ext cx="512064" cy="512064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4708" y="1399032"/>
            <a:ext cx="51206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46320" y="1920240"/>
            <a:ext cx="2148840" cy="2286000"/>
          </a:xfrm>
          <a:prstGeom prst="rect">
            <a:avLst/>
          </a:prstGeom>
          <a:solidFill>
            <a:srgbClr val="252545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0" y="196596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D166"/>
                </a:solidFill>
              </a:rPr>
              <a:t>Run levelset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2423160"/>
            <a:ext cx="1965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D166"/>
                </a:solidFill>
              </a:rPr>
              <a:t>cd regtest/basic_levelset
../../build/levelset inputs.i</a:t>
            </a:r>
          </a:p>
        </p:txBody>
      </p:sp>
      <p:sp>
        <p:nvSpPr>
          <p:cNvPr id="20" name="Oval 19"/>
          <p:cNvSpPr/>
          <p:nvPr/>
        </p:nvSpPr>
        <p:spPr>
          <a:xfrm>
            <a:off x="7950708" y="1344168"/>
            <a:ext cx="512064" cy="512064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50708" y="1399032"/>
            <a:ext cx="51206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320" y="1920240"/>
            <a:ext cx="2148840" cy="2286000"/>
          </a:xfrm>
          <a:prstGeom prst="rect">
            <a:avLst/>
          </a:prstGeom>
          <a:solidFill>
            <a:srgbClr val="252545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0" y="196596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D166"/>
                </a:solidFill>
              </a:rPr>
              <a:t>Run wind solver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2423160"/>
            <a:ext cx="1965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D166"/>
                </a:solidFill>
              </a:rPr>
              <a:t>cd regtest/gaussian_hill_wind_solver
../../build/wind_solver inputs.i</a:t>
            </a:r>
          </a:p>
        </p:txBody>
      </p:sp>
      <p:sp>
        <p:nvSpPr>
          <p:cNvPr id="25" name="Oval 24"/>
          <p:cNvSpPr/>
          <p:nvPr/>
        </p:nvSpPr>
        <p:spPr>
          <a:xfrm>
            <a:off x="10236708" y="1344168"/>
            <a:ext cx="512064" cy="512064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36708" y="1399032"/>
            <a:ext cx="51206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418320" y="1920240"/>
            <a:ext cx="2148840" cy="2286000"/>
          </a:xfrm>
          <a:prstGeom prst="rect">
            <a:avLst/>
          </a:prstGeom>
          <a:solidFill>
            <a:srgbClr val="252545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18320" y="196596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D166"/>
                </a:solidFill>
              </a:rPr>
              <a:t>Run all tests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9760" y="2423160"/>
            <a:ext cx="1965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D166"/>
                </a:solidFill>
              </a:rPr>
              <a:t>cd build &amp;&amp; ctest -L regtest --output-on-failure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8D99AE"/>
                </a:solidFill>
              </a:rPr>
              <a:t>cmake -DLEVELSET_BUILD_WIND_SOLVER=ON  (default ON, always 3-D)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EC9B0"/>
                </a:solidFill>
              </a:rPr>
              <a:t>cmake -DLEVELSET_DIM_2D=ON   →  wind_solver built as separate 3-D ExternalProject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4552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1463040"/>
            <a:ext cx="3657600" cy="1280160"/>
          </a:xfrm>
          <a:prstGeom prst="rect">
            <a:avLst/>
          </a:prstGeom>
          <a:solidFill>
            <a:srgbClr val="252545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38328" y="15544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D166"/>
                </a:solidFill>
              </a:rPr>
              <a:t>🔥  3 fire spread 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" y="201168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Rothermel · Balbi · Cheney-Gould</a:t>
            </a:r>
          </a:p>
        </p:txBody>
      </p:sp>
      <p:sp>
        <p:nvSpPr>
          <p:cNvPr id="8" name="Rectangle 7"/>
          <p:cNvSpPr/>
          <p:nvPr/>
        </p:nvSpPr>
        <p:spPr>
          <a:xfrm>
            <a:off x="4069080" y="1463040"/>
            <a:ext cx="3657600" cy="1280160"/>
          </a:xfrm>
          <a:prstGeom prst="rect">
            <a:avLst/>
          </a:prstGeom>
          <a:solidFill>
            <a:srgbClr val="252545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78808" y="15544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D166"/>
                </a:solidFill>
              </a:rPr>
              <a:t>🌲  Full crown &amp; spotting physics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78808" y="201168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Van Wagner + Albini + stochastic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09560" y="1463040"/>
            <a:ext cx="3657600" cy="1280160"/>
          </a:xfrm>
          <a:prstGeom prst="rect">
            <a:avLst/>
          </a:prstGeom>
          <a:solidFill>
            <a:srgbClr val="252545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19288" y="15544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D166"/>
                </a:solidFill>
              </a:rPr>
              <a:t>💨  Mass-consistent wind solver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19288" y="201168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QUIC-URB style · MLMG Poisson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2926080"/>
            <a:ext cx="3657600" cy="1280160"/>
          </a:xfrm>
          <a:prstGeom prst="rect">
            <a:avLst/>
          </a:prstGeom>
          <a:solidFill>
            <a:srgbClr val="252545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" y="30175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D166"/>
                </a:solidFill>
              </a:rPr>
              <a:t>🗺   Terrain-aligned extraction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" y="347472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Constant AGL CSV slice over complex terrain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69080" y="2926080"/>
            <a:ext cx="3657600" cy="1280160"/>
          </a:xfrm>
          <a:prstGeom prst="rect">
            <a:avLst/>
          </a:prstGeom>
          <a:solidFill>
            <a:srgbClr val="252545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78808" y="30175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D166"/>
                </a:solidFill>
              </a:rPr>
              <a:t>⚡  GPU-ready HPC framework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78808" y="347472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AMReX · CUDA · HIP · SYCL · MPI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09560" y="2926080"/>
            <a:ext cx="3657600" cy="1280160"/>
          </a:xfrm>
          <a:prstGeom prst="rect">
            <a:avLst/>
          </a:prstGeom>
          <a:solidFill>
            <a:srgbClr val="252545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19288" y="30175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D166"/>
                </a:solidFill>
              </a:rPr>
              <a:t>✅  Comprehensive regression suite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19288" y="347472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9 regtests · CTest integration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71600" y="5394960"/>
            <a:ext cx="9418320" cy="8229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71600" y="539496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github.com/hgopalan/wildfire_levelset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